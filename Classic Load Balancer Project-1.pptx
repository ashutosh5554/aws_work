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4B4B4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4B4B4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832343"/>
            <a:ext cx="20088393" cy="108373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706" y="559145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F1C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706" y="6094055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F1C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706" y="659665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E1D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7967" y="612935"/>
            <a:ext cx="10114380" cy="810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4138" y="5387004"/>
            <a:ext cx="9319895" cy="2997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4B4B4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4177883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F1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54951" y="4100394"/>
            <a:ext cx="378777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90">
                <a:solidFill>
                  <a:srgbClr val="66979E"/>
                </a:solidFill>
                <a:latin typeface="Arial MT"/>
                <a:cs typeface="Arial MT"/>
              </a:rPr>
              <a:t>A*7/</a:t>
            </a:r>
            <a:r>
              <a:rPr dirty="0" sz="1900" spc="-155">
                <a:solidFill>
                  <a:srgbClr val="66979E"/>
                </a:solidFill>
                <a:latin typeface="Arial MT"/>
                <a:cs typeface="Arial MT"/>
              </a:rPr>
              <a:t> </a:t>
            </a:r>
            <a:r>
              <a:rPr dirty="0" sz="1900" spc="-355">
                <a:solidFill>
                  <a:srgbClr val="00466E"/>
                </a:solidFill>
                <a:latin typeface="Arial MT"/>
                <a:cs typeface="Arial MT"/>
              </a:rPr>
              <a:t>S</a:t>
            </a:r>
            <a:r>
              <a:rPr dirty="0" sz="1900" spc="300">
                <a:solidFill>
                  <a:srgbClr val="00466E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3B9EB8"/>
                </a:solidFill>
                <a:latin typeface="Arial MT"/>
                <a:cs typeface="Arial MT"/>
              </a:rPr>
              <a:t>H</a:t>
            </a:r>
            <a:r>
              <a:rPr dirty="0" sz="1900" spc="-210">
                <a:solidFill>
                  <a:srgbClr val="3B9EB8"/>
                </a:solidFill>
                <a:latin typeface="Arial MT"/>
                <a:cs typeface="Arial MT"/>
              </a:rPr>
              <a:t> </a:t>
            </a:r>
            <a:r>
              <a:rPr dirty="0" sz="1900" spc="-195">
                <a:solidFill>
                  <a:srgbClr val="419ED4"/>
                </a:solidFill>
                <a:latin typeface="Arial MT"/>
                <a:cs typeface="Arial MT"/>
              </a:rPr>
              <a:t>A</a:t>
            </a:r>
            <a:r>
              <a:rPr dirty="0" sz="1900" spc="-270">
                <a:solidFill>
                  <a:srgbClr val="419ED4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0A485D"/>
                </a:solidFill>
                <a:latin typeface="Arial MT"/>
                <a:cs typeface="Arial MT"/>
              </a:rPr>
              <a:t>N</a:t>
            </a:r>
            <a:r>
              <a:rPr dirty="0" sz="1900" spc="-65">
                <a:solidFill>
                  <a:srgbClr val="00446B"/>
                </a:solidFill>
                <a:latin typeface="Arial MT"/>
                <a:cs typeface="Arial MT"/>
              </a:rPr>
              <a:t>D</a:t>
            </a:r>
            <a:r>
              <a:rPr dirty="0" sz="1900" spc="-65">
                <a:solidFill>
                  <a:srgbClr val="003D59"/>
                </a:solidFill>
                <a:latin typeface="Arial MT"/>
                <a:cs typeface="Arial MT"/>
              </a:rPr>
              <a:t>S</a:t>
            </a:r>
            <a:r>
              <a:rPr dirty="0" sz="1900" spc="-160">
                <a:solidFill>
                  <a:srgbClr val="003D59"/>
                </a:solidFill>
                <a:latin typeface="Arial MT"/>
                <a:cs typeface="Arial MT"/>
              </a:rPr>
              <a:t> </a:t>
            </a:r>
            <a:r>
              <a:rPr dirty="0" sz="1900" spc="-204">
                <a:solidFill>
                  <a:srgbClr val="31A0B8"/>
                </a:solidFill>
                <a:latin typeface="Arial MT"/>
                <a:cs typeface="Arial MT"/>
              </a:rPr>
              <a:t>-</a:t>
            </a:r>
            <a:r>
              <a:rPr dirty="0" sz="1900" spc="-260">
                <a:solidFill>
                  <a:srgbClr val="31A0B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495CD"/>
                </a:solidFill>
                <a:latin typeface="Arial MT"/>
                <a:cs typeface="Arial MT"/>
              </a:rPr>
              <a:t>O</a:t>
            </a:r>
            <a:r>
              <a:rPr dirty="0" sz="1900">
                <a:solidFill>
                  <a:srgbClr val="0C4B6B"/>
                </a:solidFill>
                <a:latin typeface="Arial MT"/>
                <a:cs typeface="Arial MT"/>
              </a:rPr>
              <a:t>N</a:t>
            </a:r>
            <a:r>
              <a:rPr dirty="0" sz="1900" spc="280">
                <a:solidFill>
                  <a:srgbClr val="0C4B6B"/>
                </a:solidFill>
                <a:latin typeface="Arial MT"/>
                <a:cs typeface="Arial MT"/>
              </a:rPr>
              <a:t> </a:t>
            </a:r>
            <a:r>
              <a:rPr dirty="0" sz="1900" spc="-170">
                <a:solidFill>
                  <a:srgbClr val="38C8E6"/>
                </a:solidFill>
                <a:latin typeface="Arial MT"/>
                <a:cs typeface="Arial MT"/>
              </a:rPr>
              <a:t>D</a:t>
            </a:r>
            <a:r>
              <a:rPr dirty="0" sz="1900" spc="-170">
                <a:solidFill>
                  <a:srgbClr val="0F5B79"/>
                </a:solidFill>
                <a:latin typeface="Arial MT"/>
                <a:cs typeface="Arial MT"/>
              </a:rPr>
              <a:t>E</a:t>
            </a:r>
            <a:r>
              <a:rPr dirty="0" sz="1900" spc="-245">
                <a:solidFill>
                  <a:srgbClr val="0F5B79"/>
                </a:solidFill>
                <a:latin typeface="Arial MT"/>
                <a:cs typeface="Arial MT"/>
              </a:rPr>
              <a:t> </a:t>
            </a:r>
            <a:r>
              <a:rPr dirty="0" sz="1900" spc="-245">
                <a:solidFill>
                  <a:srgbClr val="004D79"/>
                </a:solidFill>
                <a:latin typeface="Arial MT"/>
                <a:cs typeface="Arial MT"/>
              </a:rPr>
              <a:t>P</a:t>
            </a:r>
            <a:r>
              <a:rPr dirty="0" sz="1900" spc="-250">
                <a:solidFill>
                  <a:srgbClr val="004D79"/>
                </a:solidFill>
                <a:latin typeface="Arial MT"/>
                <a:cs typeface="Arial MT"/>
              </a:rPr>
              <a:t> </a:t>
            </a:r>
            <a:r>
              <a:rPr dirty="0" sz="1900" spc="-175">
                <a:solidFill>
                  <a:srgbClr val="164B60"/>
                </a:solidFill>
                <a:latin typeface="Arial MT"/>
                <a:cs typeface="Arial MT"/>
              </a:rPr>
              <a:t>LOY</a:t>
            </a:r>
            <a:r>
              <a:rPr dirty="0" sz="1900" spc="-195">
                <a:solidFill>
                  <a:srgbClr val="164B60"/>
                </a:solidFill>
                <a:latin typeface="Arial MT"/>
                <a:cs typeface="Arial MT"/>
              </a:rPr>
              <a:t> </a:t>
            </a:r>
            <a:r>
              <a:rPr dirty="0" sz="1900" spc="-95">
                <a:solidFill>
                  <a:srgbClr val="166E80"/>
                </a:solidFill>
                <a:latin typeface="Arial MT"/>
                <a:cs typeface="Arial MT"/>
              </a:rPr>
              <a:t>M</a:t>
            </a:r>
            <a:r>
              <a:rPr dirty="0" sz="1900" spc="-95">
                <a:solidFill>
                  <a:srgbClr val="085E79"/>
                </a:solidFill>
                <a:latin typeface="Arial MT"/>
                <a:cs typeface="Arial MT"/>
              </a:rPr>
              <a:t>E</a:t>
            </a:r>
            <a:r>
              <a:rPr dirty="0" sz="1900" spc="-245">
                <a:solidFill>
                  <a:srgbClr val="085E79"/>
                </a:solidFill>
                <a:latin typeface="Arial MT"/>
                <a:cs typeface="Arial MT"/>
              </a:rPr>
              <a:t> </a:t>
            </a:r>
            <a:r>
              <a:rPr dirty="0" sz="1900" spc="-75">
                <a:solidFill>
                  <a:srgbClr val="1C6985"/>
                </a:solidFill>
                <a:latin typeface="Arial MT"/>
                <a:cs typeface="Arial MT"/>
              </a:rPr>
              <a:t>N</a:t>
            </a:r>
            <a:r>
              <a:rPr dirty="0" sz="1900" spc="-245">
                <a:solidFill>
                  <a:srgbClr val="1C6985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135D77"/>
                </a:solidFill>
                <a:latin typeface="Arial MT"/>
                <a:cs typeface="Arial MT"/>
              </a:rPr>
              <a:t>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4994612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0F1C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62515" y="4689381"/>
            <a:ext cx="12070080" cy="126238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100" spc="-745">
                <a:solidFill>
                  <a:srgbClr val="FFFFFF"/>
                </a:solidFill>
              </a:rPr>
              <a:t>AWS </a:t>
            </a:r>
            <a:r>
              <a:rPr dirty="0" sz="8100" spc="-75">
                <a:solidFill>
                  <a:srgbClr val="FFFFFF"/>
                </a:solidFill>
              </a:rPr>
              <a:t>Classic</a:t>
            </a:r>
            <a:r>
              <a:rPr dirty="0" sz="8100" spc="-430">
                <a:solidFill>
                  <a:srgbClr val="FFFFFF"/>
                </a:solidFill>
              </a:rPr>
              <a:t> </a:t>
            </a:r>
            <a:r>
              <a:rPr dirty="0" sz="8100" spc="-275">
                <a:solidFill>
                  <a:srgbClr val="FFFFFF"/>
                </a:solidFill>
              </a:rPr>
              <a:t>Load</a:t>
            </a:r>
            <a:r>
              <a:rPr dirty="0" sz="8100" spc="-670">
                <a:solidFill>
                  <a:srgbClr val="FFFFFF"/>
                </a:solidFill>
              </a:rPr>
              <a:t> </a:t>
            </a:r>
            <a:r>
              <a:rPr dirty="0" sz="8100" spc="-90">
                <a:solidFill>
                  <a:srgbClr val="FFFFFF"/>
                </a:solidFill>
              </a:rPr>
              <a:t>Balancer</a:t>
            </a:r>
            <a:endParaRPr sz="8100"/>
          </a:p>
        </p:txBody>
      </p:sp>
      <p:sp>
        <p:nvSpPr>
          <p:cNvPr id="6" name="object 6"/>
          <p:cNvSpPr/>
          <p:nvPr/>
        </p:nvSpPr>
        <p:spPr>
          <a:xfrm>
            <a:off x="15706" y="6392475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F1C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6895078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E1D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283485" y="6189336"/>
            <a:ext cx="11526520" cy="103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58390" marR="5080" indent="-2346325">
              <a:lnSpc>
                <a:spcPct val="122100"/>
              </a:lnSpc>
              <a:spcBef>
                <a:spcPts val="100"/>
              </a:spcBef>
            </a:pPr>
            <a:r>
              <a:rPr dirty="0" sz="2700" spc="-240">
                <a:solidFill>
                  <a:srgbClr val="A8A8A8"/>
                </a:solidFill>
                <a:latin typeface="Arial MT"/>
                <a:cs typeface="Arial MT"/>
              </a:rPr>
              <a:t>A</a:t>
            </a:r>
            <a:r>
              <a:rPr dirty="0" sz="2700" spc="-14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700" spc="-190">
                <a:solidFill>
                  <a:srgbClr val="959595"/>
                </a:solidFill>
                <a:latin typeface="Arial MT"/>
                <a:cs typeface="Arial MT"/>
              </a:rPr>
              <a:t>complete</a:t>
            </a:r>
            <a:r>
              <a:rPr dirty="0" sz="2700" spc="-5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2700" spc="-155">
                <a:solidFill>
                  <a:srgbClr val="ACACAC"/>
                </a:solidFill>
                <a:latin typeface="Arial MT"/>
                <a:cs typeface="Arial MT"/>
              </a:rPr>
              <a:t>step-by-</a:t>
            </a:r>
            <a:r>
              <a:rPr dirty="0" sz="2700" spc="-114">
                <a:solidFill>
                  <a:srgbClr val="ACACAC"/>
                </a:solidFill>
                <a:latin typeface="Arial MT"/>
                <a:cs typeface="Arial MT"/>
              </a:rPr>
              <a:t>step</a:t>
            </a:r>
            <a:r>
              <a:rPr dirty="0" sz="2700" spc="10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700" spc="-125">
                <a:solidFill>
                  <a:srgbClr val="9C9C9C"/>
                </a:solidFill>
                <a:latin typeface="Arial MT"/>
                <a:cs typeface="Arial MT"/>
              </a:rPr>
              <a:t>practical</a:t>
            </a:r>
            <a:r>
              <a:rPr dirty="0" sz="2700" spc="-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700" spc="-145">
                <a:solidFill>
                  <a:srgbClr val="B5B5B5"/>
                </a:solidFill>
                <a:latin typeface="Arial MT"/>
                <a:cs typeface="Arial MT"/>
              </a:rPr>
              <a:t>implementation</a:t>
            </a:r>
            <a:r>
              <a:rPr dirty="0" sz="2700" spc="-9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700" spc="-195">
                <a:solidFill>
                  <a:srgbClr val="ACACAC"/>
                </a:solidFill>
                <a:latin typeface="Arial MT"/>
                <a:cs typeface="Arial MT"/>
              </a:rPr>
              <a:t>guide</a:t>
            </a:r>
            <a:r>
              <a:rPr dirty="0" sz="2700" spc="-13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B3B3B3"/>
                </a:solidFill>
                <a:latin typeface="Arial MT"/>
                <a:cs typeface="Arial MT"/>
              </a:rPr>
              <a:t>for</a:t>
            </a:r>
            <a:r>
              <a:rPr dirty="0" sz="2700" spc="-8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700" spc="-140">
                <a:solidFill>
                  <a:srgbClr val="B3B3B3"/>
                </a:solidFill>
                <a:latin typeface="Arial MT"/>
                <a:cs typeface="Arial MT"/>
              </a:rPr>
              <a:t>configuring</a:t>
            </a:r>
            <a:r>
              <a:rPr dirty="0" sz="2700" spc="-2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700" spc="-375">
                <a:solidFill>
                  <a:srgbClr val="8E99AC"/>
                </a:solidFill>
                <a:latin typeface="Arial MT"/>
                <a:cs typeface="Arial MT"/>
              </a:rPr>
              <a:t>a</a:t>
            </a:r>
            <a:r>
              <a:rPr dirty="0" sz="2700" spc="-185">
                <a:solidFill>
                  <a:srgbClr val="8E99AC"/>
                </a:solidFill>
                <a:latin typeface="Arial MT"/>
                <a:cs typeface="Arial MT"/>
              </a:rPr>
              <a:t> </a:t>
            </a:r>
            <a:r>
              <a:rPr dirty="0" sz="2700" spc="-200">
                <a:solidFill>
                  <a:srgbClr val="A3A3A3"/>
                </a:solidFill>
                <a:latin typeface="Arial MT"/>
                <a:cs typeface="Arial MT"/>
              </a:rPr>
              <a:t>Classic</a:t>
            </a:r>
            <a:r>
              <a:rPr dirty="0" sz="2700" spc="3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700" spc="-280">
                <a:solidFill>
                  <a:srgbClr val="A8A8A8"/>
                </a:solidFill>
                <a:latin typeface="Arial MT"/>
                <a:cs typeface="Arial MT"/>
              </a:rPr>
              <a:t>Load </a:t>
            </a:r>
            <a:r>
              <a:rPr dirty="0" sz="2700" spc="-200">
                <a:solidFill>
                  <a:srgbClr val="AAAAAA"/>
                </a:solidFill>
                <a:latin typeface="Arial MT"/>
                <a:cs typeface="Arial MT"/>
              </a:rPr>
              <a:t>Balancer</a:t>
            </a:r>
            <a:r>
              <a:rPr dirty="0" sz="2700" spc="5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700" spc="-260">
                <a:solidFill>
                  <a:srgbClr val="999999"/>
                </a:solidFill>
                <a:latin typeface="Arial MT"/>
                <a:cs typeface="Arial MT"/>
              </a:rPr>
              <a:t>(CLB)</a:t>
            </a:r>
            <a:r>
              <a:rPr dirty="0" sz="2700" spc="5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dirty="0" sz="2700" spc="-60">
                <a:solidFill>
                  <a:srgbClr val="AEAEAE"/>
                </a:solidFill>
                <a:latin typeface="Arial MT"/>
                <a:cs typeface="Arial MT"/>
              </a:rPr>
              <a:t>with</a:t>
            </a:r>
            <a:r>
              <a:rPr dirty="0" sz="2700" spc="-22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700" spc="-145">
                <a:solidFill>
                  <a:srgbClr val="AFAFAF"/>
                </a:solidFill>
                <a:latin typeface="Arial MT"/>
                <a:cs typeface="Arial MT"/>
              </a:rPr>
              <a:t>redundant</a:t>
            </a:r>
            <a:r>
              <a:rPr dirty="0" sz="2700" spc="4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700" spc="-270">
                <a:solidFill>
                  <a:srgbClr val="A1AFC1"/>
                </a:solidFill>
                <a:latin typeface="Arial MT"/>
                <a:cs typeface="Arial MT"/>
              </a:rPr>
              <a:t>EC2</a:t>
            </a:r>
            <a:r>
              <a:rPr dirty="0" sz="2700" spc="-50">
                <a:solidFill>
                  <a:srgbClr val="A1AFC1"/>
                </a:solidFill>
                <a:latin typeface="Arial MT"/>
                <a:cs typeface="Arial MT"/>
              </a:rPr>
              <a:t> </a:t>
            </a:r>
            <a:r>
              <a:rPr dirty="0" sz="2700" spc="-114">
                <a:solidFill>
                  <a:srgbClr val="AFAFAF"/>
                </a:solidFill>
                <a:latin typeface="Arial MT"/>
                <a:cs typeface="Arial MT"/>
              </a:rPr>
              <a:t>target</a:t>
            </a:r>
            <a:r>
              <a:rPr dirty="0" sz="2700" spc="-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700" spc="-45">
                <a:solidFill>
                  <a:srgbClr val="A8A8A8"/>
                </a:solidFill>
                <a:latin typeface="Arial MT"/>
                <a:cs typeface="Arial MT"/>
              </a:rPr>
              <a:t>servers.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25"/>
              </a:spcBef>
            </a:pPr>
            <a:r>
              <a:rPr dirty="0" sz="5000" spc="-85">
                <a:solidFill>
                  <a:srgbClr val="181818"/>
                </a:solidFill>
              </a:rPr>
              <a:t>What</a:t>
            </a:r>
            <a:r>
              <a:rPr dirty="0" sz="5000" spc="-265">
                <a:solidFill>
                  <a:srgbClr val="181818"/>
                </a:solidFill>
              </a:rPr>
              <a:t> </a:t>
            </a:r>
            <a:r>
              <a:rPr dirty="0" sz="5000" spc="105">
                <a:solidFill>
                  <a:srgbClr val="111111"/>
                </a:solidFill>
              </a:rPr>
              <a:t>is</a:t>
            </a:r>
            <a:r>
              <a:rPr dirty="0" sz="5000" spc="-450">
                <a:solidFill>
                  <a:srgbClr val="111111"/>
                </a:solidFill>
              </a:rPr>
              <a:t> </a:t>
            </a:r>
            <a:r>
              <a:rPr dirty="0" sz="5000">
                <a:solidFill>
                  <a:srgbClr val="181818"/>
                </a:solidFill>
              </a:rPr>
              <a:t>a</a:t>
            </a:r>
            <a:r>
              <a:rPr dirty="0" sz="5000" spc="-570">
                <a:solidFill>
                  <a:srgbClr val="181818"/>
                </a:solidFill>
              </a:rPr>
              <a:t> </a:t>
            </a:r>
            <a:r>
              <a:rPr dirty="0" sz="5000" spc="-30">
                <a:solidFill>
                  <a:srgbClr val="111111"/>
                </a:solidFill>
              </a:rPr>
              <a:t>Classic</a:t>
            </a:r>
            <a:r>
              <a:rPr dirty="0" sz="5000" spc="-220">
                <a:solidFill>
                  <a:srgbClr val="111111"/>
                </a:solidFill>
              </a:rPr>
              <a:t> </a:t>
            </a:r>
            <a:r>
              <a:rPr dirty="0" sz="5000" spc="-204">
                <a:solidFill>
                  <a:srgbClr val="181818"/>
                </a:solidFill>
              </a:rPr>
              <a:t>Load</a:t>
            </a:r>
            <a:r>
              <a:rPr dirty="0" sz="5000" spc="-530">
                <a:solidFill>
                  <a:srgbClr val="181818"/>
                </a:solidFill>
              </a:rPr>
              <a:t> </a:t>
            </a:r>
            <a:r>
              <a:rPr dirty="0" sz="5000" spc="-175"/>
              <a:t>Balancer?'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1410609" y="5053899"/>
            <a:ext cx="7722234" cy="2181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170">
                <a:solidFill>
                  <a:srgbClr val="1F64EB"/>
                </a:solidFill>
                <a:latin typeface="Arial MT"/>
                <a:cs typeface="Arial MT"/>
              </a:rPr>
              <a:t>Fundamental</a:t>
            </a:r>
            <a:r>
              <a:rPr dirty="0" sz="2800" spc="80">
                <a:solidFill>
                  <a:srgbClr val="1F64EB"/>
                </a:solidFill>
                <a:latin typeface="Arial MT"/>
                <a:cs typeface="Arial MT"/>
              </a:rPr>
              <a:t> </a:t>
            </a:r>
            <a:r>
              <a:rPr dirty="0" sz="2800" spc="55">
                <a:solidFill>
                  <a:srgbClr val="265DF6"/>
                </a:solidFill>
                <a:latin typeface="Arial MT"/>
                <a:cs typeface="Arial MT"/>
              </a:rPr>
              <a:t>Layer</a:t>
            </a:r>
            <a:r>
              <a:rPr dirty="0" sz="2800" spc="20">
                <a:solidFill>
                  <a:srgbClr val="265DF6"/>
                </a:solidFill>
                <a:latin typeface="Arial MT"/>
                <a:cs typeface="Arial MT"/>
              </a:rPr>
              <a:t> </a:t>
            </a:r>
            <a:r>
              <a:rPr dirty="0" sz="2800" spc="120">
                <a:solidFill>
                  <a:srgbClr val="1F64F2"/>
                </a:solidFill>
                <a:latin typeface="Arial MT"/>
                <a:cs typeface="Arial MT"/>
              </a:rPr>
              <a:t>Routing</a:t>
            </a:r>
            <a:endParaRPr sz="2800">
              <a:latin typeface="Arial MT"/>
              <a:cs typeface="Arial MT"/>
            </a:endParaRPr>
          </a:p>
          <a:p>
            <a:pPr marL="16510" marR="5080" indent="3810">
              <a:lnSpc>
                <a:spcPct val="120700"/>
              </a:lnSpc>
              <a:spcBef>
                <a:spcPts val="1700"/>
              </a:spcBef>
            </a:pPr>
            <a:r>
              <a:rPr dirty="0" sz="2050" spc="-95">
                <a:solidFill>
                  <a:srgbClr val="4B4B4B"/>
                </a:solidFill>
                <a:latin typeface="Arial MT"/>
                <a:cs typeface="Arial MT"/>
              </a:rPr>
              <a:t>Elastic</a:t>
            </a:r>
            <a:r>
              <a:rPr dirty="0" sz="2050" spc="-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80">
                <a:solidFill>
                  <a:srgbClr val="464646"/>
                </a:solidFill>
                <a:latin typeface="Arial MT"/>
                <a:cs typeface="Arial MT"/>
              </a:rPr>
              <a:t>Load</a:t>
            </a:r>
            <a:r>
              <a:rPr dirty="0" sz="2050" spc="-1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464646"/>
                </a:solidFill>
                <a:latin typeface="Arial MT"/>
                <a:cs typeface="Arial MT"/>
              </a:rPr>
              <a:t>Balancing</a:t>
            </a:r>
            <a:r>
              <a:rPr dirty="0" sz="2050" spc="-7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95">
                <a:solidFill>
                  <a:srgbClr val="414141"/>
                </a:solidFill>
                <a:latin typeface="Arial MT"/>
                <a:cs typeface="Arial MT"/>
              </a:rPr>
              <a:t>(ELB)</a:t>
            </a:r>
            <a:r>
              <a:rPr dirty="0" sz="2050" spc="5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050" spc="-55">
                <a:solidFill>
                  <a:srgbClr val="464646"/>
                </a:solidFill>
                <a:latin typeface="Arial MT"/>
                <a:cs typeface="Arial MT"/>
              </a:rPr>
              <a:t>distributes</a:t>
            </a:r>
            <a:r>
              <a:rPr dirty="0" sz="2050" spc="-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45">
                <a:solidFill>
                  <a:srgbClr val="494949"/>
                </a:solidFill>
                <a:latin typeface="Arial MT"/>
                <a:cs typeface="Arial MT"/>
              </a:rPr>
              <a:t>incoming</a:t>
            </a:r>
            <a:r>
              <a:rPr dirty="0" sz="2050" spc="-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464646"/>
                </a:solidFill>
                <a:latin typeface="Arial MT"/>
                <a:cs typeface="Arial MT"/>
              </a:rPr>
              <a:t>application</a:t>
            </a:r>
            <a:r>
              <a:rPr dirty="0" sz="2050" spc="-7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6B7C9A"/>
                </a:solidFill>
                <a:latin typeface="Arial MT"/>
                <a:cs typeface="Arial MT"/>
              </a:rPr>
              <a:t>traffic</a:t>
            </a:r>
            <a:r>
              <a:rPr dirty="0" sz="2050" spc="-15">
                <a:solidFill>
                  <a:srgbClr val="6B7C9A"/>
                </a:solidFill>
                <a:latin typeface="Arial MT"/>
                <a:cs typeface="Arial MT"/>
              </a:rPr>
              <a:t> </a:t>
            </a:r>
            <a:r>
              <a:rPr dirty="0" sz="2050" spc="-85">
                <a:solidFill>
                  <a:srgbClr val="494949"/>
                </a:solidFill>
                <a:latin typeface="Arial MT"/>
                <a:cs typeface="Arial MT"/>
              </a:rPr>
              <a:t>across </a:t>
            </a:r>
            <a:r>
              <a:rPr dirty="0" sz="2050" spc="-75">
                <a:solidFill>
                  <a:srgbClr val="444444"/>
                </a:solidFill>
                <a:latin typeface="Arial MT"/>
                <a:cs typeface="Arial MT"/>
              </a:rPr>
              <a:t>multiple</a:t>
            </a:r>
            <a:r>
              <a:rPr dirty="0" sz="205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70">
                <a:solidFill>
                  <a:srgbClr val="444444"/>
                </a:solidFill>
                <a:latin typeface="Arial MT"/>
                <a:cs typeface="Arial MT"/>
              </a:rPr>
              <a:t>targets.</a:t>
            </a:r>
            <a:r>
              <a:rPr dirty="0" sz="2050" spc="-1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21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2050" spc="-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50">
                <a:solidFill>
                  <a:srgbClr val="424242"/>
                </a:solidFill>
                <a:latin typeface="Arial MT"/>
                <a:cs typeface="Arial MT"/>
              </a:rPr>
              <a:t>Classic</a:t>
            </a:r>
            <a:r>
              <a:rPr dirty="0" sz="2050" spc="4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50" spc="-204">
                <a:solidFill>
                  <a:srgbClr val="444444"/>
                </a:solidFill>
                <a:latin typeface="Arial MT"/>
                <a:cs typeface="Arial MT"/>
              </a:rPr>
              <a:t>Load</a:t>
            </a:r>
            <a:r>
              <a:rPr dirty="0" sz="2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4B4B4B"/>
                </a:solidFill>
                <a:latin typeface="Arial MT"/>
                <a:cs typeface="Arial MT"/>
              </a:rPr>
              <a:t>Balancer</a:t>
            </a:r>
            <a:r>
              <a:rPr dirty="0" sz="2050" spc="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90">
                <a:solidFill>
                  <a:srgbClr val="3F3F3F"/>
                </a:solidFill>
                <a:latin typeface="Arial MT"/>
                <a:cs typeface="Arial MT"/>
              </a:rPr>
              <a:t>(CLB)</a:t>
            </a:r>
            <a:r>
              <a:rPr dirty="0" sz="20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444444"/>
                </a:solidFill>
                <a:latin typeface="Arial MT"/>
                <a:cs typeface="Arial MT"/>
              </a:rPr>
              <a:t>operates</a:t>
            </a:r>
            <a:r>
              <a:rPr dirty="0" sz="2050" spc="9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444444"/>
                </a:solidFill>
                <a:latin typeface="Arial MT"/>
                <a:cs typeface="Arial MT"/>
              </a:rPr>
              <a:t>at</a:t>
            </a:r>
            <a:r>
              <a:rPr dirty="0" sz="2050" spc="-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545454"/>
                </a:solidFill>
                <a:latin typeface="Arial MT"/>
                <a:cs typeface="Arial MT"/>
              </a:rPr>
              <a:t>both</a:t>
            </a:r>
            <a:r>
              <a:rPr dirty="0" sz="2050" spc="-1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545454"/>
                </a:solidFill>
                <a:latin typeface="Arial MT"/>
                <a:cs typeface="Arial MT"/>
              </a:rPr>
              <a:t>the </a:t>
            </a:r>
            <a:r>
              <a:rPr dirty="0" sz="2050" spc="-55">
                <a:solidFill>
                  <a:srgbClr val="3F3F3F"/>
                </a:solidFill>
                <a:latin typeface="Arial MT"/>
                <a:cs typeface="Arial MT"/>
              </a:rPr>
              <a:t>transport</a:t>
            </a:r>
            <a:r>
              <a:rPr dirty="0" sz="20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444444"/>
                </a:solidFill>
                <a:latin typeface="Arial MT"/>
                <a:cs typeface="Arial MT"/>
              </a:rPr>
              <a:t>layer</a:t>
            </a:r>
            <a:r>
              <a:rPr dirty="0" sz="2050" spc="-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484848"/>
                </a:solidFill>
                <a:latin typeface="Arial MT"/>
                <a:cs typeface="Arial MT"/>
              </a:rPr>
              <a:t>(Layer</a:t>
            </a:r>
            <a:r>
              <a:rPr dirty="0" sz="2050" spc="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829EC1"/>
                </a:solidFill>
                <a:latin typeface="Arial MT"/>
                <a:cs typeface="Arial MT"/>
              </a:rPr>
              <a:t>4</a:t>
            </a:r>
            <a:r>
              <a:rPr dirty="0" sz="2050" spc="-160">
                <a:solidFill>
                  <a:srgbClr val="829EC1"/>
                </a:solidFill>
                <a:latin typeface="Arial MT"/>
                <a:cs typeface="Arial MT"/>
              </a:rPr>
              <a:t> </a:t>
            </a:r>
            <a:r>
              <a:rPr dirty="0" sz="2050" spc="-180">
                <a:solidFill>
                  <a:srgbClr val="494949"/>
                </a:solidFill>
                <a:latin typeface="Arial MT"/>
                <a:cs typeface="Arial MT"/>
              </a:rPr>
              <a:t>-</a:t>
            </a:r>
            <a:r>
              <a:rPr dirty="0" sz="2050" spc="-1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260">
                <a:solidFill>
                  <a:srgbClr val="4B4B4B"/>
                </a:solidFill>
                <a:latin typeface="Arial MT"/>
                <a:cs typeface="Arial MT"/>
              </a:rPr>
              <a:t>TCP/SSL)</a:t>
            </a:r>
            <a:r>
              <a:rPr dirty="0" sz="2050" spc="1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8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050" spc="-18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6D7B95"/>
                </a:solidFill>
                <a:latin typeface="Arial MT"/>
                <a:cs typeface="Arial MT"/>
              </a:rPr>
              <a:t>the</a:t>
            </a:r>
            <a:r>
              <a:rPr dirty="0" sz="2050" spc="-40">
                <a:solidFill>
                  <a:srgbClr val="6D7B95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484848"/>
                </a:solidFill>
                <a:latin typeface="Arial MT"/>
                <a:cs typeface="Arial MT"/>
              </a:rPr>
              <a:t>application</a:t>
            </a:r>
            <a:r>
              <a:rPr dirty="0" sz="2050" spc="-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494949"/>
                </a:solidFill>
                <a:latin typeface="Arial MT"/>
                <a:cs typeface="Arial MT"/>
              </a:rPr>
              <a:t>layer</a:t>
            </a:r>
            <a:r>
              <a:rPr dirty="0" sz="2050" spc="-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4D4D4D"/>
                </a:solidFill>
                <a:latin typeface="Arial MT"/>
                <a:cs typeface="Arial MT"/>
              </a:rPr>
              <a:t>(Layer</a:t>
            </a:r>
            <a:r>
              <a:rPr dirty="0" sz="2050" spc="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3B4B5B"/>
                </a:solidFill>
                <a:latin typeface="Arial MT"/>
                <a:cs typeface="Arial MT"/>
              </a:rPr>
              <a:t>7</a:t>
            </a:r>
            <a:r>
              <a:rPr dirty="0" sz="2050" spc="-80">
                <a:solidFill>
                  <a:srgbClr val="3B4B5B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4D4D4D"/>
                </a:solidFill>
                <a:latin typeface="Arial MT"/>
                <a:cs typeface="Arial MT"/>
              </a:rPr>
              <a:t>- </a:t>
            </a:r>
            <a:r>
              <a:rPr dirty="0" sz="2050" spc="-195">
                <a:solidFill>
                  <a:srgbClr val="3B3B3B"/>
                </a:solidFill>
                <a:latin typeface="Arial MT"/>
                <a:cs typeface="Arial MT"/>
              </a:rPr>
              <a:t>HTTP/HTTPS),</a:t>
            </a:r>
            <a:r>
              <a:rPr dirty="0" sz="2050" spc="8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050" spc="-130">
                <a:solidFill>
                  <a:srgbClr val="444444"/>
                </a:solidFill>
                <a:latin typeface="Arial MT"/>
                <a:cs typeface="Arial MT"/>
              </a:rPr>
              <a:t>ensuring</a:t>
            </a:r>
            <a:r>
              <a:rPr dirty="0" sz="205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50">
                <a:solidFill>
                  <a:srgbClr val="4B4B4B"/>
                </a:solidFill>
                <a:latin typeface="Arial MT"/>
                <a:cs typeface="Arial MT"/>
              </a:rPr>
              <a:t>simple</a:t>
            </a:r>
            <a:r>
              <a:rPr dirty="0" sz="2050" spc="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424242"/>
                </a:solidFill>
                <a:latin typeface="Arial MT"/>
                <a:cs typeface="Arial MT"/>
              </a:rPr>
              <a:t>traMc</a:t>
            </a:r>
            <a:r>
              <a:rPr dirty="0" sz="2050" spc="-3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50" spc="-105">
                <a:solidFill>
                  <a:srgbClr val="464646"/>
                </a:solidFill>
                <a:latin typeface="Arial MT"/>
                <a:cs typeface="Arial MT"/>
              </a:rPr>
              <a:t>delegation</a:t>
            </a:r>
            <a:r>
              <a:rPr dirty="0" sz="2050" spc="-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204">
                <a:solidFill>
                  <a:srgbClr val="425B79"/>
                </a:solidFill>
                <a:latin typeface="Arial MT"/>
                <a:cs typeface="Arial MT"/>
              </a:rPr>
              <a:t>and</a:t>
            </a:r>
            <a:r>
              <a:rPr dirty="0" sz="2050" spc="-125">
                <a:solidFill>
                  <a:srgbClr val="425B79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24242"/>
                </a:solidFill>
                <a:latin typeface="Arial MT"/>
                <a:cs typeface="Arial MT"/>
              </a:rPr>
              <a:t>reliability.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59037" y="5053899"/>
            <a:ext cx="7807325" cy="2181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135">
                <a:solidFill>
                  <a:srgbClr val="265DF6"/>
                </a:solidFill>
                <a:latin typeface="Arial MT"/>
                <a:cs typeface="Arial MT"/>
              </a:rPr>
              <a:t>Legacy</a:t>
            </a:r>
            <a:r>
              <a:rPr dirty="0" sz="2800" spc="20">
                <a:solidFill>
                  <a:srgbClr val="265DF6"/>
                </a:solidFill>
                <a:latin typeface="Arial MT"/>
                <a:cs typeface="Arial MT"/>
              </a:rPr>
              <a:t> </a:t>
            </a:r>
            <a:r>
              <a:rPr dirty="0" sz="2800" spc="165">
                <a:solidFill>
                  <a:srgbClr val="2166F2"/>
                </a:solidFill>
                <a:latin typeface="Arial MT"/>
                <a:cs typeface="Arial MT"/>
              </a:rPr>
              <a:t>&amp;</a:t>
            </a:r>
            <a:r>
              <a:rPr dirty="0" sz="2800" spc="10">
                <a:solidFill>
                  <a:srgbClr val="2166F2"/>
                </a:solidFill>
                <a:latin typeface="Arial MT"/>
                <a:cs typeface="Arial MT"/>
              </a:rPr>
              <a:t> </a:t>
            </a:r>
            <a:r>
              <a:rPr dirty="0" sz="2800" spc="145">
                <a:solidFill>
                  <a:srgbClr val="0F5DE2"/>
                </a:solidFill>
                <a:latin typeface="Arial MT"/>
                <a:cs typeface="Arial MT"/>
              </a:rPr>
              <a:t>Generation</a:t>
            </a:r>
            <a:r>
              <a:rPr dirty="0" sz="2800" spc="-120">
                <a:solidFill>
                  <a:srgbClr val="0F5DE2"/>
                </a:solidFill>
                <a:latin typeface="Arial MT"/>
                <a:cs typeface="Arial MT"/>
              </a:rPr>
              <a:t> </a:t>
            </a:r>
            <a:r>
              <a:rPr dirty="0" sz="2800" spc="105">
                <a:solidFill>
                  <a:srgbClr val="1C5EF0"/>
                </a:solidFill>
                <a:latin typeface="Arial MT"/>
                <a:cs typeface="Arial MT"/>
              </a:rPr>
              <a:t>Positioning</a:t>
            </a:r>
            <a:endParaRPr sz="2800">
              <a:latin typeface="Arial MT"/>
              <a:cs typeface="Arial MT"/>
            </a:endParaRPr>
          </a:p>
          <a:p>
            <a:pPr marL="13970" marR="5080" indent="3175">
              <a:lnSpc>
                <a:spcPct val="120700"/>
              </a:lnSpc>
              <a:spcBef>
                <a:spcPts val="1700"/>
              </a:spcBef>
            </a:pPr>
            <a:r>
              <a:rPr dirty="0" sz="2050" spc="-114">
                <a:solidFill>
                  <a:srgbClr val="494949"/>
                </a:solidFill>
                <a:latin typeface="Arial MT"/>
                <a:cs typeface="Arial MT"/>
              </a:rPr>
              <a:t>Classified</a:t>
            </a:r>
            <a:r>
              <a:rPr dirty="0" sz="2050" spc="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254">
                <a:solidFill>
                  <a:srgbClr val="4D4D4D"/>
                </a:solidFill>
                <a:latin typeface="Arial MT"/>
                <a:cs typeface="Arial MT"/>
              </a:rPr>
              <a:t>as</a:t>
            </a:r>
            <a:r>
              <a:rPr dirty="0" sz="2050" spc="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050" spc="-380">
                <a:solidFill>
                  <a:srgbClr val="4B4B4B"/>
                </a:solidFill>
                <a:latin typeface="Arial MT"/>
                <a:cs typeface="Arial MT"/>
              </a:rPr>
              <a:t>a</a:t>
            </a:r>
            <a:r>
              <a:rPr dirty="0" sz="2050" spc="-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464646"/>
                </a:solidFill>
                <a:latin typeface="Arial MT"/>
                <a:cs typeface="Arial MT"/>
              </a:rPr>
              <a:t>previous-</a:t>
            </a:r>
            <a:r>
              <a:rPr dirty="0" sz="2050" spc="-100">
                <a:solidFill>
                  <a:srgbClr val="464646"/>
                </a:solidFill>
                <a:latin typeface="Arial MT"/>
                <a:cs typeface="Arial MT"/>
              </a:rPr>
              <a:t>generation</a:t>
            </a:r>
            <a:r>
              <a:rPr dirty="0" sz="2050" spc="-11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4B4B4B"/>
                </a:solidFill>
                <a:latin typeface="Arial MT"/>
                <a:cs typeface="Arial MT"/>
              </a:rPr>
              <a:t>load</a:t>
            </a:r>
            <a:r>
              <a:rPr dirty="0" sz="2050" spc="-1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50">
                <a:solidFill>
                  <a:srgbClr val="3F3F3F"/>
                </a:solidFill>
                <a:latin typeface="Arial MT"/>
                <a:cs typeface="Arial MT"/>
              </a:rPr>
              <a:t>balancer.</a:t>
            </a:r>
            <a:r>
              <a:rPr dirty="0" sz="2050" spc="-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4B4B4B"/>
                </a:solidFill>
                <a:latin typeface="Arial MT"/>
                <a:cs typeface="Arial MT"/>
              </a:rPr>
              <a:t>While</a:t>
            </a:r>
            <a:r>
              <a:rPr dirty="0" sz="2050" spc="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285">
                <a:solidFill>
                  <a:srgbClr val="567087"/>
                </a:solidFill>
                <a:latin typeface="Arial MT"/>
                <a:cs typeface="Arial MT"/>
              </a:rPr>
              <a:t>AWS</a:t>
            </a:r>
            <a:r>
              <a:rPr dirty="0" sz="2050" spc="-145">
                <a:solidFill>
                  <a:srgbClr val="567087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444444"/>
                </a:solidFill>
                <a:latin typeface="Arial MT"/>
                <a:cs typeface="Arial MT"/>
              </a:rPr>
              <a:t>recommends </a:t>
            </a:r>
            <a:r>
              <a:rPr dirty="0" sz="2050" spc="-140">
                <a:solidFill>
                  <a:srgbClr val="4B4B4B"/>
                </a:solidFill>
                <a:latin typeface="Arial MT"/>
                <a:cs typeface="Arial MT"/>
              </a:rPr>
              <a:t>using</a:t>
            </a:r>
            <a:r>
              <a:rPr dirty="0" sz="2050" spc="-1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3B3B3B"/>
                </a:solidFill>
                <a:latin typeface="Arial MT"/>
                <a:cs typeface="Arial MT"/>
              </a:rPr>
              <a:t>Application</a:t>
            </a:r>
            <a:r>
              <a:rPr dirty="0" sz="2050" spc="-4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050" spc="-204">
                <a:solidFill>
                  <a:srgbClr val="4F4F4F"/>
                </a:solidFill>
                <a:latin typeface="Arial MT"/>
                <a:cs typeface="Arial MT"/>
              </a:rPr>
              <a:t>Load</a:t>
            </a:r>
            <a:r>
              <a:rPr dirty="0" sz="205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050" spc="-140">
                <a:solidFill>
                  <a:srgbClr val="444444"/>
                </a:solidFill>
                <a:latin typeface="Arial MT"/>
                <a:cs typeface="Arial MT"/>
              </a:rPr>
              <a:t>Balancers</a:t>
            </a:r>
            <a:r>
              <a:rPr dirty="0" sz="205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65">
                <a:solidFill>
                  <a:srgbClr val="3F3F3F"/>
                </a:solidFill>
                <a:latin typeface="Arial MT"/>
                <a:cs typeface="Arial MT"/>
              </a:rPr>
              <a:t>(ALB)</a:t>
            </a:r>
            <a:r>
              <a:rPr dirty="0" sz="20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525252"/>
                </a:solidFill>
                <a:latin typeface="Arial MT"/>
                <a:cs typeface="Arial MT"/>
              </a:rPr>
              <a:t>or</a:t>
            </a:r>
            <a:r>
              <a:rPr dirty="0" sz="2050" spc="-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4B4B4B"/>
                </a:solidFill>
                <a:latin typeface="Arial MT"/>
                <a:cs typeface="Arial MT"/>
              </a:rPr>
              <a:t>Network</a:t>
            </a:r>
            <a:r>
              <a:rPr dirty="0" sz="2050" spc="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204">
                <a:solidFill>
                  <a:srgbClr val="444444"/>
                </a:solidFill>
                <a:latin typeface="Arial MT"/>
                <a:cs typeface="Arial MT"/>
              </a:rPr>
              <a:t>Load</a:t>
            </a:r>
            <a:r>
              <a:rPr dirty="0" sz="2050" spc="-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40">
                <a:solidFill>
                  <a:srgbClr val="4B4B4B"/>
                </a:solidFill>
                <a:latin typeface="Arial MT"/>
                <a:cs typeface="Arial MT"/>
              </a:rPr>
              <a:t>Balancers</a:t>
            </a:r>
            <a:r>
              <a:rPr dirty="0" sz="2050" spc="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Arial MT"/>
                <a:cs typeface="Arial MT"/>
              </a:rPr>
              <a:t>(NLB) </a:t>
            </a:r>
            <a:r>
              <a:rPr dirty="0" sz="2050" spc="-80">
                <a:solidFill>
                  <a:srgbClr val="465B6E"/>
                </a:solidFill>
                <a:latin typeface="Arial MT"/>
                <a:cs typeface="Arial MT"/>
              </a:rPr>
              <a:t>for </a:t>
            </a:r>
            <a:r>
              <a:rPr dirty="0" sz="2050" spc="-150">
                <a:solidFill>
                  <a:srgbClr val="494949"/>
                </a:solidFill>
                <a:latin typeface="Arial MT"/>
                <a:cs typeface="Arial MT"/>
              </a:rPr>
              <a:t>newer</a:t>
            </a:r>
            <a:r>
              <a:rPr dirty="0" sz="2050" spc="-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130">
                <a:solidFill>
                  <a:srgbClr val="3F3F3F"/>
                </a:solidFill>
                <a:latin typeface="Arial MT"/>
                <a:cs typeface="Arial MT"/>
              </a:rPr>
              <a:t>workloads,</a:t>
            </a:r>
            <a:r>
              <a:rPr dirty="0" sz="2050" spc="-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050" spc="-235">
                <a:solidFill>
                  <a:srgbClr val="7E8A93"/>
                </a:solidFill>
                <a:latin typeface="Arial MT"/>
                <a:cs typeface="Arial MT"/>
              </a:rPr>
              <a:t>CLB</a:t>
            </a:r>
            <a:r>
              <a:rPr dirty="0" sz="2050" spc="-95">
                <a:solidFill>
                  <a:srgbClr val="7E8A93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4D4D4D"/>
                </a:solidFill>
                <a:latin typeface="Arial MT"/>
                <a:cs typeface="Arial MT"/>
              </a:rPr>
              <a:t>is</a:t>
            </a:r>
            <a:r>
              <a:rPr dirty="0" sz="205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D4D4D"/>
                </a:solidFill>
                <a:latin typeface="Arial MT"/>
                <a:cs typeface="Arial MT"/>
              </a:rPr>
              <a:t>still</a:t>
            </a:r>
            <a:r>
              <a:rPr dirty="0" sz="2050" spc="-1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444444"/>
                </a:solidFill>
                <a:latin typeface="Arial MT"/>
                <a:cs typeface="Arial MT"/>
              </a:rPr>
              <a:t>highly</a:t>
            </a:r>
            <a:r>
              <a:rPr dirty="0" sz="2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85">
                <a:solidFill>
                  <a:srgbClr val="4B4B4B"/>
                </a:solidFill>
                <a:latin typeface="Arial MT"/>
                <a:cs typeface="Arial MT"/>
              </a:rPr>
              <a:t>functional</a:t>
            </a:r>
            <a:r>
              <a:rPr dirty="0" sz="2050" spc="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3A6087"/>
                </a:solidFill>
                <a:latin typeface="Arial MT"/>
                <a:cs typeface="Arial MT"/>
              </a:rPr>
              <a:t>for</a:t>
            </a:r>
            <a:r>
              <a:rPr dirty="0" sz="2050" spc="-70">
                <a:solidFill>
                  <a:srgbClr val="3A6087"/>
                </a:solidFill>
                <a:latin typeface="Arial MT"/>
                <a:cs typeface="Arial MT"/>
              </a:rPr>
              <a:t> </a:t>
            </a:r>
            <a:r>
              <a:rPr dirty="0" sz="2050" spc="-160">
                <a:solidFill>
                  <a:srgbClr val="444444"/>
                </a:solidFill>
                <a:latin typeface="Arial MT"/>
                <a:cs typeface="Arial MT"/>
              </a:rPr>
              <a:t>basic</a:t>
            </a:r>
            <a:r>
              <a:rPr dirty="0" sz="2050" spc="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3B3B3B"/>
                </a:solidFill>
                <a:latin typeface="Arial MT"/>
                <a:cs typeface="Arial MT"/>
              </a:rPr>
              <a:t>applications</a:t>
            </a:r>
            <a:r>
              <a:rPr dirty="0" sz="2050" spc="4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D4D4D"/>
                </a:solidFill>
                <a:latin typeface="Arial MT"/>
                <a:cs typeface="Arial MT"/>
              </a:rPr>
              <a:t>built </a:t>
            </a:r>
            <a:r>
              <a:rPr dirty="0" sz="2050" spc="-55">
                <a:solidFill>
                  <a:srgbClr val="464646"/>
                </a:solidFill>
                <a:latin typeface="Arial MT"/>
                <a:cs typeface="Arial MT"/>
              </a:rPr>
              <a:t>within</a:t>
            </a:r>
            <a:r>
              <a:rPr dirty="0" sz="2050" spc="-1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050" spc="-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195">
                <a:solidFill>
                  <a:srgbClr val="464646"/>
                </a:solidFill>
                <a:latin typeface="Arial MT"/>
                <a:cs typeface="Arial MT"/>
              </a:rPr>
              <a:t>EC2-</a:t>
            </a:r>
            <a:r>
              <a:rPr dirty="0" sz="2050" spc="-135">
                <a:solidFill>
                  <a:srgbClr val="464646"/>
                </a:solidFill>
                <a:latin typeface="Arial MT"/>
                <a:cs typeface="Arial MT"/>
              </a:rPr>
              <a:t>Classic</a:t>
            </a:r>
            <a:r>
              <a:rPr dirty="0" sz="2050" spc="1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B4B4B"/>
                </a:solidFill>
                <a:latin typeface="Arial MT"/>
                <a:cs typeface="Arial MT"/>
              </a:rPr>
              <a:t>network.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92612" y="4719751"/>
            <a:ext cx="4366895" cy="125730"/>
            <a:chOff x="1892612" y="4719751"/>
            <a:chExt cx="4366895" cy="125730"/>
          </a:xfrm>
        </p:grpSpPr>
        <p:sp>
          <p:nvSpPr>
            <p:cNvPr id="3" name="object 3"/>
            <p:cNvSpPr/>
            <p:nvPr/>
          </p:nvSpPr>
          <p:spPr>
            <a:xfrm>
              <a:off x="1892612" y="4833622"/>
              <a:ext cx="4366895" cy="0"/>
            </a:xfrm>
            <a:custGeom>
              <a:avLst/>
              <a:gdLst/>
              <a:ahLst/>
              <a:cxnLst/>
              <a:rect l="l" t="t" r="r" b="b"/>
              <a:pathLst>
                <a:path w="4366895" h="0">
                  <a:moveTo>
                    <a:pt x="0" y="0"/>
                  </a:moveTo>
                  <a:lnTo>
                    <a:pt x="4366359" y="0"/>
                  </a:lnTo>
                </a:path>
              </a:pathLst>
            </a:custGeom>
            <a:ln w="23559">
              <a:solidFill>
                <a:srgbClr val="387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08318" y="4770797"/>
              <a:ext cx="4319270" cy="0"/>
            </a:xfrm>
            <a:custGeom>
              <a:avLst/>
              <a:gdLst/>
              <a:ahLst/>
              <a:cxnLst/>
              <a:rect l="l" t="t" r="r" b="b"/>
              <a:pathLst>
                <a:path w="4319270" h="0">
                  <a:moveTo>
                    <a:pt x="0" y="0"/>
                  </a:moveTo>
                  <a:lnTo>
                    <a:pt x="4319240" y="0"/>
                  </a:lnTo>
                </a:path>
              </a:pathLst>
            </a:custGeom>
            <a:ln w="23559">
              <a:solidFill>
                <a:srgbClr val="387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94703" y="4731531"/>
              <a:ext cx="4138929" cy="0"/>
            </a:xfrm>
            <a:custGeom>
              <a:avLst/>
              <a:gdLst/>
              <a:ahLst/>
              <a:cxnLst/>
              <a:rect l="l" t="t" r="r" b="b"/>
              <a:pathLst>
                <a:path w="4138929" h="0">
                  <a:moveTo>
                    <a:pt x="0" y="0"/>
                  </a:moveTo>
                  <a:lnTo>
                    <a:pt x="4138617" y="0"/>
                  </a:lnTo>
                </a:path>
              </a:pathLst>
            </a:custGeom>
            <a:ln w="23559">
              <a:solidFill>
                <a:srgbClr val="387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908135" y="4578394"/>
            <a:ext cx="4366895" cy="125730"/>
            <a:chOff x="7908135" y="4578394"/>
            <a:chExt cx="4366895" cy="125730"/>
          </a:xfrm>
        </p:grpSpPr>
        <p:sp>
          <p:nvSpPr>
            <p:cNvPr id="7" name="object 7"/>
            <p:cNvSpPr/>
            <p:nvPr/>
          </p:nvSpPr>
          <p:spPr>
            <a:xfrm>
              <a:off x="7908135" y="4692265"/>
              <a:ext cx="4366895" cy="0"/>
            </a:xfrm>
            <a:custGeom>
              <a:avLst/>
              <a:gdLst/>
              <a:ahLst/>
              <a:cxnLst/>
              <a:rect l="l" t="t" r="r" b="b"/>
              <a:pathLst>
                <a:path w="4366895" h="0">
                  <a:moveTo>
                    <a:pt x="0" y="0"/>
                  </a:moveTo>
                  <a:lnTo>
                    <a:pt x="4366359" y="0"/>
                  </a:lnTo>
                </a:path>
              </a:pathLst>
            </a:custGeom>
            <a:ln w="23559">
              <a:solidFill>
                <a:srgbClr val="13B3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923842" y="4629440"/>
              <a:ext cx="4319270" cy="0"/>
            </a:xfrm>
            <a:custGeom>
              <a:avLst/>
              <a:gdLst/>
              <a:ahLst/>
              <a:cxnLst/>
              <a:rect l="l" t="t" r="r" b="b"/>
              <a:pathLst>
                <a:path w="4319270" h="0">
                  <a:moveTo>
                    <a:pt x="0" y="0"/>
                  </a:moveTo>
                  <a:lnTo>
                    <a:pt x="4319240" y="0"/>
                  </a:lnTo>
                </a:path>
              </a:pathLst>
            </a:custGeom>
            <a:ln w="23559">
              <a:solidFill>
                <a:srgbClr val="13B3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018080" y="4590174"/>
              <a:ext cx="4131310" cy="0"/>
            </a:xfrm>
            <a:custGeom>
              <a:avLst/>
              <a:gdLst/>
              <a:ahLst/>
              <a:cxnLst/>
              <a:rect l="l" t="t" r="r" b="b"/>
              <a:pathLst>
                <a:path w="4131309" h="0">
                  <a:moveTo>
                    <a:pt x="0" y="0"/>
                  </a:moveTo>
                  <a:lnTo>
                    <a:pt x="4130764" y="0"/>
                  </a:lnTo>
                </a:path>
              </a:pathLst>
            </a:custGeom>
            <a:ln w="23559">
              <a:solidFill>
                <a:srgbClr val="13B3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3923660" y="4719751"/>
            <a:ext cx="4366895" cy="125730"/>
            <a:chOff x="13923660" y="4719751"/>
            <a:chExt cx="4366895" cy="125730"/>
          </a:xfrm>
        </p:grpSpPr>
        <p:sp>
          <p:nvSpPr>
            <p:cNvPr id="11" name="object 11"/>
            <p:cNvSpPr/>
            <p:nvPr/>
          </p:nvSpPr>
          <p:spPr>
            <a:xfrm>
              <a:off x="13923660" y="4833622"/>
              <a:ext cx="4366895" cy="0"/>
            </a:xfrm>
            <a:custGeom>
              <a:avLst/>
              <a:gdLst/>
              <a:ahLst/>
              <a:cxnLst/>
              <a:rect l="l" t="t" r="r" b="b"/>
              <a:pathLst>
                <a:path w="4366894" h="0">
                  <a:moveTo>
                    <a:pt x="0" y="0"/>
                  </a:moveTo>
                  <a:lnTo>
                    <a:pt x="4366359" y="0"/>
                  </a:lnTo>
                </a:path>
              </a:pathLst>
            </a:custGeom>
            <a:ln w="23559">
              <a:solidFill>
                <a:srgbClr val="3B7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939366" y="4770797"/>
              <a:ext cx="4319270" cy="0"/>
            </a:xfrm>
            <a:custGeom>
              <a:avLst/>
              <a:gdLst/>
              <a:ahLst/>
              <a:cxnLst/>
              <a:rect l="l" t="t" r="r" b="b"/>
              <a:pathLst>
                <a:path w="4319269" h="0">
                  <a:moveTo>
                    <a:pt x="0" y="0"/>
                  </a:moveTo>
                  <a:lnTo>
                    <a:pt x="4319240" y="0"/>
                  </a:lnTo>
                </a:path>
              </a:pathLst>
            </a:custGeom>
            <a:ln w="23559">
              <a:solidFill>
                <a:srgbClr val="3B7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033604" y="4731531"/>
              <a:ext cx="4131310" cy="0"/>
            </a:xfrm>
            <a:custGeom>
              <a:avLst/>
              <a:gdLst/>
              <a:ahLst/>
              <a:cxnLst/>
              <a:rect l="l" t="t" r="r" b="b"/>
              <a:pathLst>
                <a:path w="4131309" h="0">
                  <a:moveTo>
                    <a:pt x="0" y="0"/>
                  </a:moveTo>
                  <a:lnTo>
                    <a:pt x="4130764" y="0"/>
                  </a:lnTo>
                </a:path>
              </a:pathLst>
            </a:custGeom>
            <a:ln w="23559">
              <a:solidFill>
                <a:srgbClr val="3B7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042" y="5120263"/>
            <a:ext cx="502602" cy="53401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6693" y="5269472"/>
            <a:ext cx="651812" cy="51830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00565" y="5293032"/>
            <a:ext cx="534015" cy="471189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95"/>
              </a:spcBef>
            </a:pPr>
            <a:r>
              <a:rPr dirty="0" sz="4900" spc="60">
                <a:solidFill>
                  <a:srgbClr val="131313"/>
                </a:solidFill>
              </a:rPr>
              <a:t>Architecture</a:t>
            </a:r>
            <a:r>
              <a:rPr dirty="0" sz="4900" spc="-170">
                <a:solidFill>
                  <a:srgbClr val="131313"/>
                </a:solidFill>
              </a:rPr>
              <a:t> </a:t>
            </a:r>
            <a:r>
              <a:rPr dirty="0" sz="4900" spc="-10">
                <a:solidFill>
                  <a:srgbClr val="151515"/>
                </a:solidFill>
              </a:rPr>
              <a:t>Flowchart</a:t>
            </a:r>
            <a:endParaRPr sz="4900"/>
          </a:p>
        </p:txBody>
      </p:sp>
      <p:sp>
        <p:nvSpPr>
          <p:cNvPr id="18" name="object 18"/>
          <p:cNvSpPr txBox="1"/>
          <p:nvPr/>
        </p:nvSpPr>
        <p:spPr>
          <a:xfrm>
            <a:off x="2244984" y="5998242"/>
            <a:ext cx="3558540" cy="1167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1645">
              <a:lnSpc>
                <a:spcPct val="100000"/>
              </a:lnSpc>
              <a:spcBef>
                <a:spcPts val="95"/>
              </a:spcBef>
            </a:pPr>
            <a:r>
              <a:rPr dirty="0" sz="2450" spc="-165">
                <a:solidFill>
                  <a:srgbClr val="0E0E0E"/>
                </a:solidFill>
                <a:latin typeface="Arial MT"/>
                <a:cs typeface="Arial MT"/>
              </a:rPr>
              <a:t>1.</a:t>
            </a:r>
            <a:r>
              <a:rPr dirty="0" sz="2450" spc="-28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0C0C0C"/>
                </a:solidFill>
                <a:latin typeface="Arial MT"/>
                <a:cs typeface="Arial MT"/>
              </a:rPr>
              <a:t>Client</a:t>
            </a:r>
            <a:r>
              <a:rPr dirty="0" sz="24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0F0F0F"/>
                </a:solidFill>
                <a:latin typeface="Arial MT"/>
                <a:cs typeface="Arial MT"/>
              </a:rPr>
              <a:t>Requests</a:t>
            </a:r>
            <a:endParaRPr sz="2450">
              <a:latin typeface="Arial MT"/>
              <a:cs typeface="Arial MT"/>
            </a:endParaRPr>
          </a:p>
          <a:p>
            <a:pPr marL="12700" marR="5080" indent="95885">
              <a:lnSpc>
                <a:spcPct val="114500"/>
              </a:lnSpc>
              <a:spcBef>
                <a:spcPts val="1110"/>
              </a:spcBef>
            </a:pPr>
            <a:r>
              <a:rPr dirty="0" sz="1800" spc="-95">
                <a:solidFill>
                  <a:srgbClr val="6B6B6B"/>
                </a:solidFill>
                <a:latin typeface="Arial MT"/>
                <a:cs typeface="Arial MT"/>
              </a:rPr>
              <a:t>Users</a:t>
            </a:r>
            <a:r>
              <a:rPr dirty="0" sz="1800" spc="-1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800" spc="-145">
                <a:solidFill>
                  <a:srgbClr val="696969"/>
                </a:solidFill>
                <a:latin typeface="Arial MT"/>
                <a:cs typeface="Arial MT"/>
              </a:rPr>
              <a:t>send</a:t>
            </a:r>
            <a:r>
              <a:rPr dirty="0" sz="1800" spc="2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696969"/>
                </a:solidFill>
                <a:latin typeface="Arial MT"/>
                <a:cs typeface="Arial MT"/>
              </a:rPr>
              <a:t>incoming</a:t>
            </a:r>
            <a:r>
              <a:rPr dirty="0" sz="1800" spc="-7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Arial MT"/>
                <a:cs typeface="Arial MT"/>
              </a:rPr>
              <a:t>HTTP/HTTPS </a:t>
            </a:r>
            <a:r>
              <a:rPr dirty="0" sz="1800">
                <a:solidFill>
                  <a:srgbClr val="676767"/>
                </a:solidFill>
                <a:latin typeface="Arial MT"/>
                <a:cs typeface="Arial MT"/>
              </a:rPr>
              <a:t>traffic</a:t>
            </a:r>
            <a:r>
              <a:rPr dirty="0" sz="1800" spc="6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6E6E6E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800" spc="-45">
                <a:solidFill>
                  <a:srgbClr val="6B6B6B"/>
                </a:solidFill>
                <a:latin typeface="Arial MT"/>
                <a:cs typeface="Arial MT"/>
              </a:rPr>
              <a:t>the</a:t>
            </a:r>
            <a:r>
              <a:rPr dirty="0" sz="1800" spc="-8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6E6E6E"/>
                </a:solidFill>
                <a:latin typeface="Arial MT"/>
                <a:cs typeface="Arial MT"/>
              </a:rPr>
              <a:t>pub</a:t>
            </a:r>
            <a:r>
              <a:rPr dirty="0" sz="1800" spc="-325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7C8397"/>
                </a:solidFill>
                <a:latin typeface="Arial MT"/>
                <a:cs typeface="Arial MT"/>
              </a:rPr>
              <a:t>lie</a:t>
            </a:r>
            <a:r>
              <a:rPr dirty="0" sz="1800" spc="-35">
                <a:solidFill>
                  <a:srgbClr val="7C8397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696969"/>
                </a:solidFill>
                <a:latin typeface="Arial MT"/>
                <a:cs typeface="Arial MT"/>
              </a:rPr>
              <a:t>internet</a:t>
            </a:r>
            <a:r>
              <a:rPr dirty="0" sz="1800" spc="10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90">
                <a:solidFill>
                  <a:srgbClr val="698287"/>
                </a:solidFill>
                <a:latin typeface="Arial MT"/>
                <a:cs typeface="Arial MT"/>
              </a:rPr>
              <a:t>add</a:t>
            </a:r>
            <a:r>
              <a:rPr dirty="0" sz="1800" spc="-90">
                <a:solidFill>
                  <a:srgbClr val="676767"/>
                </a:solidFill>
                <a:latin typeface="Arial MT"/>
                <a:cs typeface="Arial MT"/>
              </a:rPr>
              <a:t>ress.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98871" y="5873246"/>
            <a:ext cx="3293110" cy="14497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19100">
              <a:lnSpc>
                <a:spcPct val="100000"/>
              </a:lnSpc>
              <a:spcBef>
                <a:spcPts val="114"/>
              </a:spcBef>
            </a:pPr>
            <a:r>
              <a:rPr dirty="0" sz="2300" spc="100">
                <a:solidFill>
                  <a:srgbClr val="131313"/>
                </a:solidFill>
                <a:latin typeface="Arial MT"/>
                <a:cs typeface="Arial MT"/>
              </a:rPr>
              <a:t>2.</a:t>
            </a:r>
            <a:r>
              <a:rPr dirty="0" sz="2300" spc="-3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300" spc="145">
                <a:solidFill>
                  <a:srgbClr val="0C0C0C"/>
                </a:solidFill>
                <a:latin typeface="Arial MT"/>
                <a:cs typeface="Arial MT"/>
              </a:rPr>
              <a:t>Load</a:t>
            </a:r>
            <a:r>
              <a:rPr dirty="0" sz="2300" spc="-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300" spc="155">
                <a:solidFill>
                  <a:srgbClr val="111111"/>
                </a:solidFill>
                <a:latin typeface="Arial MT"/>
                <a:cs typeface="Arial MT"/>
              </a:rPr>
              <a:t>Balancer</a:t>
            </a:r>
            <a:endParaRPr sz="2300">
              <a:latin typeface="Arial MT"/>
              <a:cs typeface="Arial MT"/>
            </a:endParaRPr>
          </a:p>
          <a:p>
            <a:pPr algn="ctr" marL="12700" marR="5080" indent="-635">
              <a:lnSpc>
                <a:spcPct val="111600"/>
              </a:lnSpc>
              <a:spcBef>
                <a:spcPts val="1200"/>
              </a:spcBef>
            </a:pPr>
            <a:r>
              <a:rPr dirty="0" sz="1800" spc="-155">
                <a:solidFill>
                  <a:srgbClr val="696969"/>
                </a:solidFill>
                <a:latin typeface="Arial MT"/>
                <a:cs typeface="Arial MT"/>
              </a:rPr>
              <a:t>CLB</a:t>
            </a:r>
            <a:r>
              <a:rPr dirty="0" sz="1800" spc="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6B859E"/>
                </a:solidFill>
                <a:latin typeface="Arial MT"/>
                <a:cs typeface="Arial MT"/>
              </a:rPr>
              <a:t>intercepts</a:t>
            </a:r>
            <a:r>
              <a:rPr dirty="0" sz="1800" spc="-100">
                <a:solidFill>
                  <a:srgbClr val="6B859E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696969"/>
                </a:solidFill>
                <a:latin typeface="Arial MT"/>
                <a:cs typeface="Arial MT"/>
              </a:rPr>
              <a:t>request,</a:t>
            </a:r>
            <a:r>
              <a:rPr dirty="0" sz="1800" spc="-1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676767"/>
                </a:solidFill>
                <a:latin typeface="Arial MT"/>
                <a:cs typeface="Arial MT"/>
              </a:rPr>
              <a:t>validates </a:t>
            </a:r>
            <a:r>
              <a:rPr dirty="0" sz="1800">
                <a:solidFill>
                  <a:srgbClr val="696969"/>
                </a:solidFill>
                <a:latin typeface="Arial MT"/>
                <a:cs typeface="Arial MT"/>
              </a:rPr>
              <a:t>routing</a:t>
            </a:r>
            <a:r>
              <a:rPr dirty="0" sz="1800" spc="-14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40">
                <a:solidFill>
                  <a:srgbClr val="6E6E6E"/>
                </a:solidFill>
                <a:latin typeface="Arial MT"/>
                <a:cs typeface="Arial MT"/>
              </a:rPr>
              <a:t>ru</a:t>
            </a:r>
            <a:r>
              <a:rPr dirty="0" sz="1800" spc="-40">
                <a:solidFill>
                  <a:srgbClr val="676767"/>
                </a:solidFill>
                <a:latin typeface="Arial MT"/>
                <a:cs typeface="Arial MT"/>
              </a:rPr>
              <a:t>les,</a:t>
            </a:r>
            <a:r>
              <a:rPr dirty="0" sz="1800" spc="2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800" spc="-110">
                <a:solidFill>
                  <a:srgbClr val="6E7C87"/>
                </a:solidFill>
                <a:latin typeface="Arial MT"/>
                <a:cs typeface="Arial MT"/>
              </a:rPr>
              <a:t>and</a:t>
            </a:r>
            <a:r>
              <a:rPr dirty="0" sz="1800" spc="-15">
                <a:solidFill>
                  <a:srgbClr val="6E7C87"/>
                </a:solidFill>
                <a:latin typeface="Arial MT"/>
                <a:cs typeface="Arial MT"/>
              </a:rPr>
              <a:t> </a:t>
            </a:r>
            <a:r>
              <a:rPr dirty="0" sz="1800" spc="-85">
                <a:solidFill>
                  <a:srgbClr val="676767"/>
                </a:solidFill>
                <a:latin typeface="Arial MT"/>
                <a:cs typeface="Arial MT"/>
              </a:rPr>
              <a:t>checks</a:t>
            </a:r>
            <a:r>
              <a:rPr dirty="0" sz="1800" spc="1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800" spc="-45">
                <a:solidFill>
                  <a:srgbClr val="646464"/>
                </a:solidFill>
                <a:latin typeface="Arial MT"/>
                <a:cs typeface="Arial MT"/>
              </a:rPr>
              <a:t>instance </a:t>
            </a:r>
            <a:r>
              <a:rPr dirty="0" sz="1800" spc="-10">
                <a:solidFill>
                  <a:srgbClr val="626262"/>
                </a:solidFill>
                <a:latin typeface="Arial MT"/>
                <a:cs typeface="Arial MT"/>
              </a:rPr>
              <a:t>health.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368924" y="5998242"/>
            <a:ext cx="3388360" cy="1167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688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0C0C0C"/>
                </a:solidFill>
                <a:latin typeface="Arial MT"/>
                <a:cs typeface="Arial MT"/>
              </a:rPr>
              <a:t>3.</a:t>
            </a:r>
            <a:r>
              <a:rPr dirty="0" sz="2450" spc="-2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450" spc="125">
                <a:solidFill>
                  <a:srgbClr val="0E0E0E"/>
                </a:solidFill>
                <a:latin typeface="Arial MT"/>
                <a:cs typeface="Arial MT"/>
              </a:rPr>
              <a:t>Target</a:t>
            </a:r>
            <a:r>
              <a:rPr dirty="0" sz="2450" spc="9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80808"/>
                </a:solidFill>
                <a:latin typeface="Arial MT"/>
                <a:cs typeface="Arial MT"/>
              </a:rPr>
              <a:t>Servers</a:t>
            </a:r>
            <a:endParaRPr sz="2450">
              <a:latin typeface="Arial MT"/>
              <a:cs typeface="Arial MT"/>
            </a:endParaRPr>
          </a:p>
          <a:p>
            <a:pPr marL="183515" marR="5080" indent="-171450">
              <a:lnSpc>
                <a:spcPct val="114500"/>
              </a:lnSpc>
              <a:spcBef>
                <a:spcPts val="1110"/>
              </a:spcBef>
            </a:pPr>
            <a:r>
              <a:rPr dirty="0" sz="1800" spc="-20">
                <a:solidFill>
                  <a:srgbClr val="676767"/>
                </a:solidFill>
                <a:latin typeface="Arial MT"/>
                <a:cs typeface="Arial MT"/>
              </a:rPr>
              <a:t>Traffic</a:t>
            </a:r>
            <a:r>
              <a:rPr dirty="0" sz="1800" spc="-6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676767"/>
                </a:solidFill>
                <a:latin typeface="Arial MT"/>
                <a:cs typeface="Arial MT"/>
              </a:rPr>
              <a:t>is</a:t>
            </a:r>
            <a:r>
              <a:rPr dirty="0" sz="1800" spc="-8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800" spc="-75">
                <a:solidFill>
                  <a:srgbClr val="696969"/>
                </a:solidFill>
                <a:latin typeface="Arial MT"/>
                <a:cs typeface="Arial MT"/>
              </a:rPr>
              <a:t>symmetr</a:t>
            </a:r>
            <a:r>
              <a:rPr dirty="0" sz="1800" spc="-19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6B6B6B"/>
                </a:solidFill>
                <a:latin typeface="Arial MT"/>
                <a:cs typeface="Arial MT"/>
              </a:rPr>
              <a:t>ical</a:t>
            </a:r>
            <a:r>
              <a:rPr dirty="0" sz="1800" spc="-10">
                <a:solidFill>
                  <a:srgbClr val="646464"/>
                </a:solidFill>
                <a:latin typeface="Arial MT"/>
                <a:cs typeface="Arial MT"/>
              </a:rPr>
              <a:t>Iy</a:t>
            </a:r>
            <a:r>
              <a:rPr dirty="0" sz="1800" spc="-12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 MT"/>
                <a:cs typeface="Arial MT"/>
              </a:rPr>
              <a:t>distributed </a:t>
            </a:r>
            <a:r>
              <a:rPr dirty="0" sz="1800" spc="-45">
                <a:solidFill>
                  <a:srgbClr val="6E6E6E"/>
                </a:solidFill>
                <a:latin typeface="Arial MT"/>
                <a:cs typeface="Arial MT"/>
              </a:rPr>
              <a:t>between</a:t>
            </a:r>
            <a:r>
              <a:rPr dirty="0" sz="1800" spc="4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800" spc="-90">
                <a:solidFill>
                  <a:srgbClr val="6D6D6D"/>
                </a:solidFill>
                <a:latin typeface="Arial MT"/>
                <a:cs typeface="Arial MT"/>
              </a:rPr>
              <a:t>Server-</a:t>
            </a:r>
            <a:r>
              <a:rPr dirty="0" sz="1800" spc="-25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1800" spc="-100">
                <a:solidFill>
                  <a:srgbClr val="7B8A9A"/>
                </a:solidFill>
                <a:latin typeface="Arial MT"/>
                <a:cs typeface="Arial MT"/>
              </a:rPr>
              <a:t>1</a:t>
            </a:r>
            <a:r>
              <a:rPr dirty="0" sz="1800" spc="-35">
                <a:solidFill>
                  <a:srgbClr val="7B8A9A"/>
                </a:solidFill>
                <a:latin typeface="Arial MT"/>
                <a:cs typeface="Arial MT"/>
              </a:rPr>
              <a:t> </a:t>
            </a:r>
            <a:r>
              <a:rPr dirty="0" sz="1800" spc="-130">
                <a:solidFill>
                  <a:srgbClr val="6E7E8E"/>
                </a:solidFill>
                <a:latin typeface="Arial MT"/>
                <a:cs typeface="Arial MT"/>
              </a:rPr>
              <a:t>and</a:t>
            </a:r>
            <a:r>
              <a:rPr dirty="0" sz="1800" spc="-10">
                <a:solidFill>
                  <a:srgbClr val="6E7E8E"/>
                </a:solidFill>
                <a:latin typeface="Arial MT"/>
                <a:cs typeface="Arial MT"/>
              </a:rPr>
              <a:t> </a:t>
            </a:r>
            <a:r>
              <a:rPr dirty="0" sz="1800" spc="-80">
                <a:solidFill>
                  <a:srgbClr val="626262"/>
                </a:solidFill>
                <a:latin typeface="Arial MT"/>
                <a:cs typeface="Arial MT"/>
              </a:rPr>
              <a:t>Server-</a:t>
            </a:r>
            <a:r>
              <a:rPr dirty="0" sz="1800" spc="-25">
                <a:solidFill>
                  <a:srgbClr val="626262"/>
                </a:solidFill>
                <a:latin typeface="Arial MT"/>
                <a:cs typeface="Arial MT"/>
              </a:rPr>
              <a:t>2.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Step</a:t>
            </a:r>
            <a:r>
              <a:rPr dirty="0" spc="-484"/>
              <a:t> </a:t>
            </a:r>
            <a:r>
              <a:rPr dirty="0" spc="-325">
                <a:solidFill>
                  <a:srgbClr val="151515"/>
                </a:solidFill>
              </a:rPr>
              <a:t>J</a:t>
            </a:r>
            <a:r>
              <a:rPr dirty="0" spc="290">
                <a:solidFill>
                  <a:srgbClr val="151515"/>
                </a:solidFill>
              </a:rPr>
              <a:t>:</a:t>
            </a:r>
            <a:r>
              <a:rPr dirty="0" spc="-315"/>
              <a:t>Check</a:t>
            </a:r>
            <a:r>
              <a:rPr dirty="0" spc="-75"/>
              <a:t> </a:t>
            </a:r>
            <a:r>
              <a:rPr dirty="0" spc="-60">
                <a:solidFill>
                  <a:srgbClr val="111111"/>
                </a:solidFill>
              </a:rPr>
              <a:t>Active</a:t>
            </a:r>
            <a:r>
              <a:rPr dirty="0" spc="-560">
                <a:solidFill>
                  <a:srgbClr val="111111"/>
                </a:solidFill>
              </a:rPr>
              <a:t> </a:t>
            </a:r>
            <a:r>
              <a:rPr dirty="0" spc="-180"/>
              <a:t>EC2lnstonces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3158" y="4085997"/>
            <a:ext cx="403161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1A62D6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1A62D6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179DF"/>
                </a:solidFill>
                <a:latin typeface="Arial MT"/>
                <a:cs typeface="Arial MT"/>
              </a:rPr>
              <a:t>HAS</a:t>
            </a:r>
            <a:r>
              <a:rPr dirty="0" sz="1650" spc="-245">
                <a:solidFill>
                  <a:srgbClr val="3179D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4F2"/>
                </a:solidFill>
                <a:latin typeface="Arial MT"/>
                <a:cs typeface="Arial MT"/>
              </a:rPr>
              <a:t>E</a:t>
            </a:r>
            <a:r>
              <a:rPr dirty="0" sz="1650" spc="190">
                <a:solidFill>
                  <a:srgbClr val="2664F2"/>
                </a:solidFill>
                <a:latin typeface="Arial MT"/>
                <a:cs typeface="Arial MT"/>
              </a:rPr>
              <a:t> </a:t>
            </a:r>
            <a:r>
              <a:rPr dirty="0" sz="1650" spc="-160">
                <a:solidFill>
                  <a:srgbClr val="2164D1"/>
                </a:solidFill>
                <a:latin typeface="Arial MT"/>
                <a:cs typeface="Arial MT"/>
              </a:rPr>
              <a:t>I</a:t>
            </a:r>
            <a:r>
              <a:rPr dirty="0" sz="1650" spc="35">
                <a:solidFill>
                  <a:srgbClr val="2164D1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56B5"/>
                </a:solidFill>
                <a:latin typeface="Arial MT"/>
                <a:cs typeface="Arial MT"/>
              </a:rPr>
              <a:t>:</a:t>
            </a:r>
            <a:r>
              <a:rPr dirty="0" sz="1650" spc="190">
                <a:solidFill>
                  <a:srgbClr val="3356B5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9FB"/>
                </a:solidFill>
                <a:latin typeface="Arial MT"/>
                <a:cs typeface="Arial MT"/>
              </a:rPr>
              <a:t>E</a:t>
            </a:r>
            <a:r>
              <a:rPr dirty="0" sz="1650" spc="-215">
                <a:solidFill>
                  <a:srgbClr val="2669FB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F67D8"/>
                </a:solidFill>
                <a:latin typeface="Arial MT"/>
                <a:cs typeface="Arial MT"/>
              </a:rPr>
              <a:t>N</a:t>
            </a:r>
            <a:r>
              <a:rPr dirty="0" sz="1650" spc="-204">
                <a:solidFill>
                  <a:srgbClr val="2F67D8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4FDD"/>
                </a:solidFill>
                <a:latin typeface="Arial MT"/>
                <a:cs typeface="Arial MT"/>
              </a:rPr>
              <a:t>VIRO</a:t>
            </a:r>
            <a:r>
              <a:rPr dirty="0" sz="1650" spc="-95">
                <a:solidFill>
                  <a:srgbClr val="154FD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F66ED"/>
                </a:solidFill>
                <a:latin typeface="Arial MT"/>
                <a:cs typeface="Arial MT"/>
              </a:rPr>
              <a:t>N</a:t>
            </a:r>
            <a:r>
              <a:rPr dirty="0" sz="1650">
                <a:solidFill>
                  <a:srgbClr val="316BF6"/>
                </a:solidFill>
                <a:latin typeface="Arial MT"/>
                <a:cs typeface="Arial MT"/>
              </a:rPr>
              <a:t>M</a:t>
            </a:r>
            <a:r>
              <a:rPr dirty="0" sz="1650">
                <a:solidFill>
                  <a:srgbClr val="2660FF"/>
                </a:solidFill>
                <a:latin typeface="Arial MT"/>
                <a:cs typeface="Arial MT"/>
              </a:rPr>
              <a:t>E</a:t>
            </a:r>
            <a:r>
              <a:rPr dirty="0" sz="1650" spc="-215">
                <a:solidFill>
                  <a:srgbClr val="2660FF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66BEB"/>
                </a:solidFill>
                <a:latin typeface="Arial MT"/>
                <a:cs typeface="Arial MT"/>
              </a:rPr>
              <a:t>N</a:t>
            </a:r>
            <a:r>
              <a:rPr dirty="0" sz="1650" spc="-235">
                <a:solidFill>
                  <a:srgbClr val="266BE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65DE8"/>
                </a:solidFill>
                <a:latin typeface="Arial MT"/>
                <a:cs typeface="Arial MT"/>
              </a:rPr>
              <a:t>T</a:t>
            </a:r>
            <a:r>
              <a:rPr dirty="0" sz="1650" spc="355">
                <a:solidFill>
                  <a:srgbClr val="365DE8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2D64DF"/>
                </a:solidFill>
                <a:latin typeface="Arial MT"/>
                <a:cs typeface="Arial MT"/>
              </a:rPr>
              <a:t>READ</a:t>
            </a:r>
            <a:r>
              <a:rPr dirty="0" sz="1650" spc="-160">
                <a:solidFill>
                  <a:srgbClr val="2D64DF"/>
                </a:solidFill>
                <a:latin typeface="Arial MT"/>
                <a:cs typeface="Arial MT"/>
              </a:rPr>
              <a:t> </a:t>
            </a:r>
            <a:r>
              <a:rPr dirty="0" sz="1650" spc="70">
                <a:solidFill>
                  <a:srgbClr val="135DCC"/>
                </a:solidFill>
                <a:latin typeface="Arial MT"/>
                <a:cs typeface="Arial MT"/>
              </a:rPr>
              <a:t>I</a:t>
            </a:r>
            <a:r>
              <a:rPr dirty="0" sz="1650" spc="70">
                <a:solidFill>
                  <a:srgbClr val="266BE9"/>
                </a:solidFill>
                <a:latin typeface="Arial MT"/>
                <a:cs typeface="Arial MT"/>
              </a:rPr>
              <a:t>N</a:t>
            </a:r>
            <a:r>
              <a:rPr dirty="0" sz="1650" spc="-265">
                <a:solidFill>
                  <a:srgbClr val="266BE9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0F69FD"/>
                </a:solidFill>
                <a:latin typeface="Arial MT"/>
                <a:cs typeface="Arial MT"/>
              </a:rPr>
              <a:t>ESS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617" y="4722757"/>
            <a:ext cx="9531350" cy="33985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160">
                <a:solidFill>
                  <a:srgbClr val="0E0E0E"/>
                </a:solidFill>
                <a:latin typeface="Arial MT"/>
                <a:cs typeface="Arial MT"/>
              </a:rPr>
              <a:t>Initialize</a:t>
            </a:r>
            <a:r>
              <a:rPr dirty="0" sz="3100" spc="-8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100" spc="21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dirty="0" sz="3100" spc="-204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3100" spc="-190">
                <a:solidFill>
                  <a:srgbClr val="0C0C0C"/>
                </a:solidFill>
                <a:latin typeface="Arial MT"/>
                <a:cs typeface="Arial MT"/>
              </a:rPr>
              <a:t>EC2 </a:t>
            </a:r>
            <a:r>
              <a:rPr dirty="0" sz="3100" spc="170">
                <a:solidFill>
                  <a:srgbClr val="161616"/>
                </a:solidFill>
                <a:latin typeface="Arial MT"/>
                <a:cs typeface="Arial MT"/>
              </a:rPr>
              <a:t>Dashboard</a:t>
            </a:r>
            <a:endParaRPr sz="3100">
              <a:latin typeface="Arial MT"/>
              <a:cs typeface="Arial MT"/>
            </a:endParaRPr>
          </a:p>
          <a:p>
            <a:pPr marL="26670">
              <a:lnSpc>
                <a:spcPct val="100000"/>
              </a:lnSpc>
              <a:spcBef>
                <a:spcPts val="3510"/>
              </a:spcBef>
            </a:pPr>
            <a:r>
              <a:rPr dirty="0" sz="2300" spc="-405">
                <a:solidFill>
                  <a:srgbClr val="4B566B"/>
                </a:solidFill>
                <a:latin typeface="Arial MT"/>
                <a:cs typeface="Arial MT"/>
              </a:rPr>
              <a:t>To</a:t>
            </a:r>
            <a:r>
              <a:rPr dirty="0" sz="2300" spc="-125">
                <a:solidFill>
                  <a:srgbClr val="4B566B"/>
                </a:solidFill>
                <a:latin typeface="Arial MT"/>
                <a:cs typeface="Arial MT"/>
              </a:rPr>
              <a:t> </a:t>
            </a:r>
            <a:r>
              <a:rPr dirty="0" sz="2300" spc="-235">
                <a:solidFill>
                  <a:srgbClr val="494949"/>
                </a:solidFill>
                <a:latin typeface="Arial MT"/>
                <a:cs typeface="Arial MT"/>
              </a:rPr>
              <a:t>begin</a:t>
            </a:r>
            <a:r>
              <a:rPr dirty="0" sz="2300" spc="-1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50">
                <a:solidFill>
                  <a:srgbClr val="484848"/>
                </a:solidFill>
                <a:latin typeface="Arial MT"/>
                <a:cs typeface="Arial MT"/>
              </a:rPr>
              <a:t>our </a:t>
            </a:r>
            <a:r>
              <a:rPr dirty="0" sz="2300" spc="-204">
                <a:solidFill>
                  <a:srgbClr val="545454"/>
                </a:solidFill>
                <a:latin typeface="Arial MT"/>
                <a:cs typeface="Arial MT"/>
              </a:rPr>
              <a:t>deployment,</a:t>
            </a:r>
            <a:r>
              <a:rPr dirty="0" sz="2300" spc="2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 spc="-300">
                <a:solidFill>
                  <a:srgbClr val="4B4B4B"/>
                </a:solidFill>
                <a:latin typeface="Arial MT"/>
                <a:cs typeface="Arial MT"/>
              </a:rPr>
              <a:t>we</a:t>
            </a:r>
            <a:r>
              <a:rPr dirty="0" sz="2300" spc="-1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145">
                <a:solidFill>
                  <a:srgbClr val="505050"/>
                </a:solidFill>
                <a:latin typeface="Arial MT"/>
                <a:cs typeface="Arial MT"/>
              </a:rPr>
              <a:t>verify</a:t>
            </a:r>
            <a:r>
              <a:rPr dirty="0" sz="2300" spc="-13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300" spc="-160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300" spc="-2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60">
                <a:solidFill>
                  <a:srgbClr val="4B4B4B"/>
                </a:solidFill>
                <a:latin typeface="Arial MT"/>
                <a:cs typeface="Arial MT"/>
              </a:rPr>
              <a:t>existing</a:t>
            </a:r>
            <a:r>
              <a:rPr dirty="0" sz="2300" spc="-2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245">
                <a:solidFill>
                  <a:srgbClr val="3F3F3F"/>
                </a:solidFill>
                <a:latin typeface="Arial MT"/>
                <a:cs typeface="Arial MT"/>
              </a:rPr>
              <a:t>resources</a:t>
            </a:r>
            <a:r>
              <a:rPr dirty="0" sz="2300" spc="8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00" spc="-145">
                <a:solidFill>
                  <a:srgbClr val="424242"/>
                </a:solidFill>
                <a:latin typeface="Arial MT"/>
                <a:cs typeface="Arial MT"/>
              </a:rPr>
              <a:t>in</a:t>
            </a:r>
            <a:r>
              <a:rPr dirty="0" sz="2300" spc="-21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 spc="-150">
                <a:solidFill>
                  <a:srgbClr val="525252"/>
                </a:solidFill>
                <a:latin typeface="Arial MT"/>
                <a:cs typeface="Arial MT"/>
              </a:rPr>
              <a:t>our </a:t>
            </a:r>
            <a:r>
              <a:rPr dirty="0" sz="2300" spc="-235">
                <a:solidFill>
                  <a:srgbClr val="4B4B4B"/>
                </a:solidFill>
                <a:latin typeface="Arial MT"/>
                <a:cs typeface="Arial MT"/>
              </a:rPr>
              <a:t>designated</a:t>
            </a:r>
            <a:r>
              <a:rPr dirty="0" sz="2300" spc="1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05050"/>
                </a:solidFill>
                <a:latin typeface="Arial MT"/>
                <a:cs typeface="Arial MT"/>
              </a:rPr>
              <a:t>region.</a:t>
            </a:r>
            <a:endParaRPr sz="2300">
              <a:latin typeface="Arial MT"/>
              <a:cs typeface="Arial MT"/>
            </a:endParaRPr>
          </a:p>
          <a:p>
            <a:pPr marL="339725" indent="-282575">
              <a:lnSpc>
                <a:spcPct val="100000"/>
              </a:lnSpc>
              <a:spcBef>
                <a:spcPts val="2435"/>
              </a:spcBef>
              <a:buClr>
                <a:srgbClr val="3D4B5B"/>
              </a:buClr>
              <a:buChar char="•"/>
              <a:tabLst>
                <a:tab pos="339725" algn="l"/>
              </a:tabLst>
            </a:pPr>
            <a:r>
              <a:rPr dirty="0" sz="2300" spc="-310">
                <a:solidFill>
                  <a:srgbClr val="484848"/>
                </a:solidFill>
                <a:latin typeface="Arial MT"/>
                <a:cs typeface="Arial MT"/>
              </a:rPr>
              <a:t>Access</a:t>
            </a:r>
            <a:r>
              <a:rPr dirty="0" sz="2300" spc="-2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 spc="-160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dirty="0" sz="2300" spc="-2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375">
                <a:solidFill>
                  <a:srgbClr val="778591"/>
                </a:solidFill>
                <a:latin typeface="Arial MT"/>
                <a:cs typeface="Arial MT"/>
              </a:rPr>
              <a:t>AWS</a:t>
            </a:r>
            <a:r>
              <a:rPr dirty="0" sz="2300" spc="-210">
                <a:solidFill>
                  <a:srgbClr val="778591"/>
                </a:solidFill>
                <a:latin typeface="Arial MT"/>
                <a:cs typeface="Arial MT"/>
              </a:rPr>
              <a:t> </a:t>
            </a:r>
            <a:r>
              <a:rPr dirty="0" sz="2300" spc="-260">
                <a:solidFill>
                  <a:srgbClr val="464646"/>
                </a:solidFill>
                <a:latin typeface="Arial MT"/>
                <a:cs typeface="Arial MT"/>
              </a:rPr>
              <a:t>Management</a:t>
            </a:r>
            <a:r>
              <a:rPr dirty="0" sz="2300" spc="18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240">
                <a:solidFill>
                  <a:srgbClr val="3F3F3F"/>
                </a:solidFill>
                <a:latin typeface="Arial MT"/>
                <a:cs typeface="Arial MT"/>
              </a:rPr>
              <a:t>Console</a:t>
            </a:r>
            <a:r>
              <a:rPr dirty="0" sz="2300" spc="-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00" spc="-285">
                <a:solidFill>
                  <a:srgbClr val="365264"/>
                </a:solidFill>
                <a:latin typeface="Arial MT"/>
                <a:cs typeface="Arial MT"/>
              </a:rPr>
              <a:t>and</a:t>
            </a:r>
            <a:r>
              <a:rPr dirty="0" sz="2300" spc="-105">
                <a:solidFill>
                  <a:srgbClr val="365264"/>
                </a:solidFill>
                <a:latin typeface="Arial MT"/>
                <a:cs typeface="Arial MT"/>
              </a:rPr>
              <a:t> </a:t>
            </a:r>
            <a:r>
              <a:rPr dirty="0" sz="2300" spc="-220">
                <a:solidFill>
                  <a:srgbClr val="3D3D3D"/>
                </a:solidFill>
                <a:latin typeface="Arial MT"/>
                <a:cs typeface="Arial MT"/>
              </a:rPr>
              <a:t>select</a:t>
            </a:r>
            <a:r>
              <a:rPr dirty="0" sz="2300" spc="-4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300" spc="-160">
                <a:solidFill>
                  <a:srgbClr val="8090A5"/>
                </a:solidFill>
                <a:latin typeface="Arial MT"/>
                <a:cs typeface="Arial MT"/>
              </a:rPr>
              <a:t>the</a:t>
            </a:r>
            <a:r>
              <a:rPr dirty="0" sz="2300" spc="-270">
                <a:solidFill>
                  <a:srgbClr val="8090A5"/>
                </a:solidFill>
                <a:latin typeface="Arial MT"/>
                <a:cs typeface="Arial MT"/>
              </a:rPr>
              <a:t> </a:t>
            </a:r>
            <a:r>
              <a:rPr dirty="0" sz="2300" spc="-320">
                <a:solidFill>
                  <a:srgbClr val="464646"/>
                </a:solidFill>
                <a:latin typeface="Arial MT"/>
                <a:cs typeface="Arial MT"/>
              </a:rPr>
              <a:t>EC2</a:t>
            </a:r>
            <a:r>
              <a:rPr dirty="0" sz="2300" spc="-1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444444"/>
                </a:solidFill>
                <a:latin typeface="Arial MT"/>
                <a:cs typeface="Arial MT"/>
              </a:rPr>
              <a:t>service.</a:t>
            </a:r>
            <a:endParaRPr sz="2300">
              <a:latin typeface="Arial MT"/>
              <a:cs typeface="Arial MT"/>
            </a:endParaRPr>
          </a:p>
          <a:p>
            <a:pPr marL="337820" indent="-280670">
              <a:lnSpc>
                <a:spcPct val="100000"/>
              </a:lnSpc>
              <a:spcBef>
                <a:spcPts val="1320"/>
              </a:spcBef>
              <a:buClr>
                <a:srgbClr val="425262"/>
              </a:buClr>
              <a:buChar char="•"/>
              <a:tabLst>
                <a:tab pos="337820" algn="l"/>
              </a:tabLst>
            </a:pPr>
            <a:r>
              <a:rPr dirty="0" sz="2300" spc="-160">
                <a:solidFill>
                  <a:srgbClr val="4D4D4D"/>
                </a:solidFill>
                <a:latin typeface="Arial MT"/>
                <a:cs typeface="Arial MT"/>
              </a:rPr>
              <a:t>Verify</a:t>
            </a:r>
            <a:r>
              <a:rPr dirty="0" sz="2300" spc="-9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200">
                <a:solidFill>
                  <a:srgbClr val="496479"/>
                </a:solidFill>
                <a:latin typeface="Arial MT"/>
                <a:cs typeface="Arial MT"/>
              </a:rPr>
              <a:t>active</a:t>
            </a:r>
            <a:r>
              <a:rPr dirty="0" sz="2300" spc="-140">
                <a:solidFill>
                  <a:srgbClr val="496479"/>
                </a:solidFill>
                <a:latin typeface="Arial MT"/>
                <a:cs typeface="Arial MT"/>
              </a:rPr>
              <a:t> </a:t>
            </a:r>
            <a:r>
              <a:rPr dirty="0" sz="2300" spc="-225">
                <a:solidFill>
                  <a:srgbClr val="444444"/>
                </a:solidFill>
                <a:latin typeface="Arial MT"/>
                <a:cs typeface="Arial MT"/>
              </a:rPr>
              <a:t>instances</a:t>
            </a:r>
            <a:r>
              <a:rPr dirty="0" sz="23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 spc="-204">
                <a:solidFill>
                  <a:srgbClr val="60727C"/>
                </a:solidFill>
                <a:latin typeface="Arial MT"/>
                <a:cs typeface="Arial MT"/>
              </a:rPr>
              <a:t>under</a:t>
            </a:r>
            <a:r>
              <a:rPr dirty="0" sz="2300" spc="-35">
                <a:solidFill>
                  <a:srgbClr val="60727C"/>
                </a:solidFill>
                <a:latin typeface="Arial MT"/>
                <a:cs typeface="Arial MT"/>
              </a:rPr>
              <a:t> </a:t>
            </a:r>
            <a:r>
              <a:rPr dirty="0" sz="2300" spc="-160">
                <a:solidFill>
                  <a:srgbClr val="484848"/>
                </a:solidFill>
                <a:latin typeface="Arial MT"/>
                <a:cs typeface="Arial MT"/>
              </a:rPr>
              <a:t>the</a:t>
            </a:r>
            <a:r>
              <a:rPr dirty="0" sz="2300" spc="-2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 spc="-340">
                <a:solidFill>
                  <a:srgbClr val="494949"/>
                </a:solidFill>
                <a:latin typeface="Arial MT"/>
                <a:cs typeface="Arial MT"/>
              </a:rPr>
              <a:t>US</a:t>
            </a:r>
            <a:r>
              <a:rPr dirty="0" sz="2300" spc="-1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25">
                <a:solidFill>
                  <a:srgbClr val="494949"/>
                </a:solidFill>
                <a:latin typeface="Arial MT"/>
                <a:cs typeface="Arial MT"/>
              </a:rPr>
              <a:t>East</a:t>
            </a:r>
            <a:r>
              <a:rPr dirty="0" sz="2300" spc="-125">
                <a:solidFill>
                  <a:srgbClr val="6B799C"/>
                </a:solidFill>
                <a:latin typeface="Arial MT"/>
                <a:cs typeface="Arial MT"/>
              </a:rPr>
              <a:t>(N.</a:t>
            </a:r>
            <a:r>
              <a:rPr dirty="0" sz="2300" spc="-125">
                <a:solidFill>
                  <a:srgbClr val="4D4D4D"/>
                </a:solidFill>
                <a:latin typeface="Arial MT"/>
                <a:cs typeface="Arial MT"/>
              </a:rPr>
              <a:t>Virginia)</a:t>
            </a:r>
            <a:r>
              <a:rPr dirty="0" sz="2300" spc="-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F4F4F"/>
                </a:solidFill>
                <a:latin typeface="Arial MT"/>
                <a:cs typeface="Arial MT"/>
              </a:rPr>
              <a:t>region.</a:t>
            </a:r>
            <a:endParaRPr sz="2300">
              <a:latin typeface="Arial MT"/>
              <a:cs typeface="Arial MT"/>
            </a:endParaRPr>
          </a:p>
          <a:p>
            <a:pPr marL="339090" marR="5080" indent="-282575">
              <a:lnSpc>
                <a:spcPct val="112000"/>
              </a:lnSpc>
              <a:spcBef>
                <a:spcPts val="1115"/>
              </a:spcBef>
              <a:buClr>
                <a:srgbClr val="445666"/>
              </a:buClr>
              <a:buChar char="•"/>
              <a:tabLst>
                <a:tab pos="344805" algn="l"/>
              </a:tabLst>
            </a:pPr>
            <a:r>
              <a:rPr dirty="0" sz="2300" spc="-295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dirty="0" sz="2300" spc="-18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415675"/>
                </a:solidFill>
                <a:latin typeface="Arial MT"/>
                <a:cs typeface="Arial MT"/>
              </a:rPr>
              <a:t>initial</a:t>
            </a:r>
            <a:r>
              <a:rPr dirty="0" sz="2300" spc="-165">
                <a:solidFill>
                  <a:srgbClr val="415675"/>
                </a:solidFill>
                <a:latin typeface="Arial MT"/>
                <a:cs typeface="Arial MT"/>
              </a:rPr>
              <a:t> </a:t>
            </a:r>
            <a:r>
              <a:rPr dirty="0" sz="2300" spc="-265">
                <a:solidFill>
                  <a:srgbClr val="4B4B4B"/>
                </a:solidFill>
                <a:latin typeface="Arial MT"/>
                <a:cs typeface="Arial MT"/>
              </a:rPr>
              <a:t>check</a:t>
            </a:r>
            <a:r>
              <a:rPr dirty="0" sz="2300" spc="-14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110">
                <a:solidFill>
                  <a:srgbClr val="3F5670"/>
                </a:solidFill>
                <a:latin typeface="Arial MT"/>
                <a:cs typeface="Arial MT"/>
              </a:rPr>
              <a:t>in</a:t>
            </a:r>
            <a:r>
              <a:rPr dirty="0" sz="2300" spc="-215">
                <a:solidFill>
                  <a:srgbClr val="3F5670"/>
                </a:solidFill>
                <a:latin typeface="Arial MT"/>
                <a:cs typeface="Arial MT"/>
              </a:rPr>
              <a:t> </a:t>
            </a:r>
            <a:r>
              <a:rPr dirty="0" sz="2300" spc="-175">
                <a:solidFill>
                  <a:srgbClr val="3F3F3F"/>
                </a:solidFill>
                <a:latin typeface="Arial MT"/>
                <a:cs typeface="Arial MT"/>
              </a:rPr>
              <a:t>1000150102.png</a:t>
            </a:r>
            <a:r>
              <a:rPr dirty="0" sz="2300" spc="-175">
                <a:solidFill>
                  <a:srgbClr val="4D4D4D"/>
                </a:solidFill>
                <a:latin typeface="Arial MT"/>
                <a:cs typeface="Arial MT"/>
              </a:rPr>
              <a:t>confirms</a:t>
            </a:r>
            <a:r>
              <a:rPr dirty="0" sz="2300" spc="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235">
                <a:solidFill>
                  <a:srgbClr val="4B4B4B"/>
                </a:solidFill>
                <a:latin typeface="Arial MT"/>
                <a:cs typeface="Arial MT"/>
              </a:rPr>
              <a:t>zero</a:t>
            </a:r>
            <a:r>
              <a:rPr dirty="0" sz="2300" spc="-1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165">
                <a:solidFill>
                  <a:srgbClr val="3B5B6B"/>
                </a:solidFill>
                <a:latin typeface="Arial MT"/>
                <a:cs typeface="Arial MT"/>
              </a:rPr>
              <a:t>running</a:t>
            </a:r>
            <a:r>
              <a:rPr dirty="0" sz="2300" spc="-215">
                <a:solidFill>
                  <a:srgbClr val="3B5B6B"/>
                </a:solidFill>
                <a:latin typeface="Arial MT"/>
                <a:cs typeface="Arial MT"/>
              </a:rPr>
              <a:t> </a:t>
            </a:r>
            <a:r>
              <a:rPr dirty="0" sz="2300" spc="-220">
                <a:solidFill>
                  <a:srgbClr val="484848"/>
                </a:solidFill>
                <a:latin typeface="Arial MT"/>
                <a:cs typeface="Arial MT"/>
              </a:rPr>
              <a:t>instances,</a:t>
            </a:r>
            <a:r>
              <a:rPr dirty="0" sz="2300" spc="-16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 spc="-185">
                <a:solidFill>
                  <a:srgbClr val="4D4D4D"/>
                </a:solidFill>
                <a:latin typeface="Arial MT"/>
                <a:cs typeface="Arial MT"/>
              </a:rPr>
              <a:t>preparing</a:t>
            </a:r>
            <a:r>
              <a:rPr dirty="0" sz="2300" spc="-17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295">
                <a:solidFill>
                  <a:srgbClr val="4D4D4D"/>
                </a:solidFill>
                <a:latin typeface="Arial MT"/>
                <a:cs typeface="Arial MT"/>
              </a:rPr>
              <a:t>us</a:t>
            </a:r>
            <a:r>
              <a:rPr dirty="0" sz="230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566E8E"/>
                </a:solidFill>
                <a:latin typeface="Arial MT"/>
                <a:cs typeface="Arial MT"/>
              </a:rPr>
              <a:t>for </a:t>
            </a:r>
            <a:r>
              <a:rPr dirty="0" sz="2300" spc="-25">
                <a:solidFill>
                  <a:srgbClr val="566E8E"/>
                </a:solidFill>
                <a:latin typeface="Arial MT"/>
                <a:cs typeface="Arial MT"/>
              </a:rPr>
              <a:t>	</a:t>
            </a:r>
            <a:r>
              <a:rPr dirty="0" sz="2300" spc="-450">
                <a:solidFill>
                  <a:srgbClr val="4B4B4B"/>
                </a:solidFill>
                <a:latin typeface="Arial MT"/>
                <a:cs typeface="Arial MT"/>
              </a:rPr>
              <a:t>a</a:t>
            </a:r>
            <a:r>
              <a:rPr dirty="0" sz="2300" spc="-1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210">
                <a:solidFill>
                  <a:srgbClr val="464646"/>
                </a:solidFill>
                <a:latin typeface="Arial MT"/>
                <a:cs typeface="Arial MT"/>
              </a:rPr>
              <a:t>clean-</a:t>
            </a:r>
            <a:r>
              <a:rPr dirty="0" sz="2300" spc="-195">
                <a:solidFill>
                  <a:srgbClr val="464646"/>
                </a:solidFill>
                <a:latin typeface="Arial MT"/>
                <a:cs typeface="Arial MT"/>
              </a:rPr>
              <a:t>slate</a:t>
            </a:r>
            <a:r>
              <a:rPr dirty="0" sz="2300" spc="-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55">
                <a:solidFill>
                  <a:srgbClr val="3F3F3F"/>
                </a:solidFill>
                <a:latin typeface="Arial MT"/>
                <a:cs typeface="Arial MT"/>
              </a:rPr>
              <a:t>installation.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7967" y="612935"/>
            <a:ext cx="7192009" cy="810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Step</a:t>
            </a:r>
            <a:r>
              <a:rPr dirty="0" spc="-320"/>
              <a:t> </a:t>
            </a:r>
            <a:r>
              <a:rPr dirty="0" spc="-325">
                <a:solidFill>
                  <a:srgbClr val="1A1A1A"/>
                </a:solidFill>
              </a:rPr>
              <a:t>2:</a:t>
            </a:r>
            <a:r>
              <a:rPr dirty="0" spc="-890">
                <a:solidFill>
                  <a:srgbClr val="1A1A1A"/>
                </a:solidFill>
              </a:rPr>
              <a:t> </a:t>
            </a:r>
            <a:r>
              <a:rPr dirty="0" spc="-120"/>
              <a:t>Launching</a:t>
            </a:r>
            <a:r>
              <a:rPr dirty="0" spc="-240"/>
              <a:t> </a:t>
            </a:r>
            <a:r>
              <a:rPr dirty="0" spc="-225">
                <a:solidFill>
                  <a:srgbClr val="111111"/>
                </a:solidFill>
              </a:rPr>
              <a:t>Server-</a:t>
            </a:r>
            <a:r>
              <a:rPr dirty="0" spc="-60">
                <a:solidFill>
                  <a:srgbClr val="111111"/>
                </a:solidFill>
              </a:rPr>
              <a:t>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3158" y="3818989"/>
            <a:ext cx="3235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85DE4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285DE4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2159E6"/>
                </a:solidFill>
                <a:latin typeface="Arial MT"/>
                <a:cs typeface="Arial MT"/>
              </a:rPr>
              <a:t>HAS</a:t>
            </a:r>
            <a:r>
              <a:rPr dirty="0" sz="1650" spc="-245">
                <a:solidFill>
                  <a:srgbClr val="2159E6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1C5BE2"/>
                </a:solidFill>
                <a:latin typeface="Arial MT"/>
                <a:cs typeface="Arial MT"/>
              </a:rPr>
              <a:t>E</a:t>
            </a:r>
            <a:r>
              <a:rPr dirty="0" sz="1650" spc="235">
                <a:solidFill>
                  <a:srgbClr val="1C5BE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D75F6"/>
                </a:solidFill>
                <a:latin typeface="Arial MT"/>
                <a:cs typeface="Arial MT"/>
              </a:rPr>
              <a:t>2</a:t>
            </a:r>
            <a:r>
              <a:rPr dirty="0" sz="1650">
                <a:solidFill>
                  <a:srgbClr val="2F5BC8"/>
                </a:solidFill>
                <a:latin typeface="Arial MT"/>
                <a:cs typeface="Arial MT"/>
              </a:rPr>
              <a:t>:</a:t>
            </a:r>
            <a:r>
              <a:rPr dirty="0" sz="1650" spc="325">
                <a:solidFill>
                  <a:srgbClr val="2F5BC8"/>
                </a:solidFill>
                <a:latin typeface="Arial MT"/>
                <a:cs typeface="Arial MT"/>
              </a:rPr>
              <a:t> </a:t>
            </a:r>
            <a:r>
              <a:rPr dirty="0" sz="1650" spc="-180">
                <a:solidFill>
                  <a:srgbClr val="2F64CA"/>
                </a:solidFill>
                <a:latin typeface="Arial MT"/>
                <a:cs typeface="Arial MT"/>
              </a:rPr>
              <a:t>T</a:t>
            </a:r>
            <a:r>
              <a:rPr dirty="0" sz="1650" spc="-30">
                <a:solidFill>
                  <a:srgbClr val="2F64CA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246EFB"/>
                </a:solidFill>
                <a:latin typeface="Arial MT"/>
                <a:cs typeface="Arial MT"/>
              </a:rPr>
              <a:t>ARG</a:t>
            </a:r>
            <a:r>
              <a:rPr dirty="0" sz="1650" spc="-235">
                <a:solidFill>
                  <a:srgbClr val="246EF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65DFD"/>
                </a:solidFill>
                <a:latin typeface="Arial MT"/>
                <a:cs typeface="Arial MT"/>
              </a:rPr>
              <a:t>ET</a:t>
            </a:r>
            <a:r>
              <a:rPr dirty="0" sz="1650" spc="390">
                <a:solidFill>
                  <a:srgbClr val="265DFD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159EB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2159EB"/>
                </a:solidFill>
                <a:latin typeface="Arial MT"/>
                <a:cs typeface="Arial MT"/>
              </a:rPr>
              <a:t> </a:t>
            </a:r>
            <a:r>
              <a:rPr dirty="0" sz="1650" spc="-370">
                <a:solidFill>
                  <a:srgbClr val="2A6ED6"/>
                </a:solidFill>
                <a:latin typeface="Arial MT"/>
                <a:cs typeface="Arial MT"/>
              </a:rPr>
              <a:t>R</a:t>
            </a:r>
            <a:r>
              <a:rPr dirty="0" sz="1650" spc="-170">
                <a:solidFill>
                  <a:srgbClr val="2A6ED6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1C5BDD"/>
                </a:solidFill>
                <a:latin typeface="Arial MT"/>
                <a:cs typeface="Arial MT"/>
              </a:rPr>
              <a:t>EAT</a:t>
            </a:r>
            <a:r>
              <a:rPr dirty="0" sz="1650" spc="-80">
                <a:solidFill>
                  <a:srgbClr val="1C5BD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459DB"/>
                </a:solidFill>
                <a:latin typeface="Arial MT"/>
                <a:cs typeface="Arial MT"/>
              </a:rPr>
              <a:t>IO</a:t>
            </a:r>
            <a:r>
              <a:rPr dirty="0" sz="1650" spc="-150">
                <a:solidFill>
                  <a:srgbClr val="3459DB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16BD4"/>
                </a:solidFill>
                <a:latin typeface="Arial MT"/>
                <a:cs typeface="Arial MT"/>
              </a:rPr>
              <a:t>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156" y="4406668"/>
            <a:ext cx="510540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>
                <a:solidFill>
                  <a:srgbClr val="0F0F0F"/>
                </a:solidFill>
                <a:latin typeface="Arial MT"/>
                <a:cs typeface="Arial MT"/>
              </a:rPr>
              <a:t>Provisioning</a:t>
            </a:r>
            <a:r>
              <a:rPr dirty="0" sz="3450" spc="10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450" spc="-105">
                <a:solidFill>
                  <a:srgbClr val="131313"/>
                </a:solidFill>
                <a:latin typeface="Arial MT"/>
                <a:cs typeface="Arial MT"/>
              </a:rPr>
              <a:t>Web</a:t>
            </a:r>
            <a:r>
              <a:rPr dirty="0" sz="3450" spc="-26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450" spc="-70">
                <a:solidFill>
                  <a:srgbClr val="111111"/>
                </a:solidFill>
                <a:latin typeface="Arial MT"/>
                <a:cs typeface="Arial MT"/>
              </a:rPr>
              <a:t>Server-</a:t>
            </a:r>
            <a:r>
              <a:rPr dirty="0" sz="3450" spc="-50">
                <a:solidFill>
                  <a:srgbClr val="111111"/>
                </a:solidFill>
                <a:latin typeface="Arial MT"/>
                <a:cs typeface="Arial MT"/>
              </a:rPr>
              <a:t>J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4138" y="5387004"/>
            <a:ext cx="8341359" cy="2997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25">
                <a:solidFill>
                  <a:srgbClr val="44546E"/>
                </a:solidFill>
                <a:latin typeface="Arial MT"/>
                <a:cs typeface="Arial MT"/>
              </a:rPr>
              <a:t>We</a:t>
            </a:r>
            <a:r>
              <a:rPr dirty="0" sz="2200" spc="-200">
                <a:solidFill>
                  <a:srgbClr val="44546E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4D4D4D"/>
                </a:solidFill>
                <a:latin typeface="Arial MT"/>
                <a:cs typeface="Arial MT"/>
              </a:rPr>
              <a:t>configure</a:t>
            </a:r>
            <a:r>
              <a:rPr dirty="0" sz="220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8990A0"/>
                </a:solidFill>
                <a:latin typeface="Arial MT"/>
                <a:cs typeface="Arial MT"/>
              </a:rPr>
              <a:t>the</a:t>
            </a:r>
            <a:r>
              <a:rPr dirty="0" sz="2200" spc="-120">
                <a:solidFill>
                  <a:srgbClr val="8990A0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444444"/>
                </a:solidFill>
                <a:latin typeface="Arial MT"/>
                <a:cs typeface="Arial MT"/>
              </a:rPr>
              <a:t>first</a:t>
            </a:r>
            <a:r>
              <a:rPr dirty="0" sz="2200" spc="-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4F4F4F"/>
                </a:solidFill>
                <a:latin typeface="Arial MT"/>
                <a:cs typeface="Arial MT"/>
              </a:rPr>
              <a:t>target</a:t>
            </a:r>
            <a:r>
              <a:rPr dirty="0" sz="2200" spc="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75">
                <a:solidFill>
                  <a:srgbClr val="4D4D4D"/>
                </a:solidFill>
                <a:latin typeface="Arial MT"/>
                <a:cs typeface="Arial MT"/>
              </a:rPr>
              <a:t>EC2</a:t>
            </a:r>
            <a:r>
              <a:rPr dirty="0" sz="2200" spc="-1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65">
                <a:solidFill>
                  <a:srgbClr val="4B4B4B"/>
                </a:solidFill>
                <a:latin typeface="Arial MT"/>
                <a:cs typeface="Arial MT"/>
              </a:rPr>
              <a:t>instance</a:t>
            </a:r>
            <a:r>
              <a:rPr dirty="0" sz="22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525252"/>
                </a:solidFill>
                <a:latin typeface="Arial MT"/>
                <a:cs typeface="Arial MT"/>
              </a:rPr>
              <a:t>to</a:t>
            </a:r>
            <a:r>
              <a:rPr dirty="0" sz="2200" spc="-15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215">
                <a:solidFill>
                  <a:srgbClr val="464646"/>
                </a:solidFill>
                <a:latin typeface="Arial MT"/>
                <a:cs typeface="Arial MT"/>
              </a:rPr>
              <a:t>serve</a:t>
            </a:r>
            <a:r>
              <a:rPr dirty="0" sz="2200" spc="-10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4D4D4D"/>
                </a:solidFill>
                <a:latin typeface="Arial MT"/>
                <a:cs typeface="Arial MT"/>
              </a:rPr>
              <a:t>incoming</a:t>
            </a:r>
            <a:r>
              <a:rPr dirty="0" sz="2200" spc="-2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24242"/>
                </a:solidFill>
                <a:latin typeface="Arial MT"/>
                <a:cs typeface="Arial MT"/>
              </a:rPr>
              <a:t>requests.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Arial MT"/>
              <a:cs typeface="Arial MT"/>
            </a:endParaRPr>
          </a:p>
          <a:p>
            <a:pPr marL="325120" indent="-285115">
              <a:lnSpc>
                <a:spcPct val="100000"/>
              </a:lnSpc>
              <a:spcBef>
                <a:spcPts val="5"/>
              </a:spcBef>
              <a:buClr>
                <a:srgbClr val="49576E"/>
              </a:buClr>
              <a:buChar char="•"/>
              <a:tabLst>
                <a:tab pos="325120" algn="l"/>
              </a:tabLst>
            </a:pPr>
            <a:r>
              <a:rPr dirty="0" sz="2200" spc="-260">
                <a:solidFill>
                  <a:srgbClr val="444444"/>
                </a:solidFill>
                <a:latin typeface="Arial MT"/>
                <a:cs typeface="Arial MT"/>
              </a:rPr>
              <a:t>Set</a:t>
            </a:r>
            <a:r>
              <a:rPr dirty="0" sz="2200" spc="-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84848"/>
                </a:solidFill>
                <a:latin typeface="Arial MT"/>
                <a:cs typeface="Arial MT"/>
              </a:rPr>
              <a:t>the</a:t>
            </a:r>
            <a:r>
              <a:rPr dirty="0" sz="2200" spc="-18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65">
                <a:solidFill>
                  <a:srgbClr val="484848"/>
                </a:solidFill>
                <a:latin typeface="Arial MT"/>
                <a:cs typeface="Arial MT"/>
              </a:rPr>
              <a:t>instance</a:t>
            </a:r>
            <a:r>
              <a:rPr dirty="0" sz="2200" spc="-3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45">
                <a:solidFill>
                  <a:srgbClr val="4F4F4F"/>
                </a:solidFill>
                <a:latin typeface="Arial MT"/>
                <a:cs typeface="Arial MT"/>
              </a:rPr>
              <a:t>name</a:t>
            </a:r>
            <a:r>
              <a:rPr dirty="0" sz="2200" spc="-6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F4F4F"/>
                </a:solidFill>
                <a:latin typeface="Arial MT"/>
                <a:cs typeface="Arial MT"/>
              </a:rPr>
              <a:t>to</a:t>
            </a:r>
            <a:r>
              <a:rPr dirty="0" sz="2200" spc="-2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4B4B4B"/>
                </a:solidFill>
                <a:latin typeface="Arial MT"/>
                <a:cs typeface="Arial MT"/>
              </a:rPr>
              <a:t>Server-</a:t>
            </a:r>
            <a:r>
              <a:rPr dirty="0" sz="2200" spc="-25">
                <a:solidFill>
                  <a:srgbClr val="4B4B4B"/>
                </a:solidFill>
                <a:latin typeface="Arial MT"/>
                <a:cs typeface="Arial MT"/>
              </a:rPr>
              <a:t>1.</a:t>
            </a:r>
            <a:endParaRPr sz="2200">
              <a:latin typeface="Arial MT"/>
              <a:cs typeface="Arial MT"/>
            </a:endParaRPr>
          </a:p>
          <a:p>
            <a:pPr marL="325120" indent="-285115">
              <a:lnSpc>
                <a:spcPct val="100000"/>
              </a:lnSpc>
              <a:spcBef>
                <a:spcPts val="1440"/>
              </a:spcBef>
              <a:buClr>
                <a:srgbClr val="465269"/>
              </a:buClr>
              <a:buChar char="•"/>
              <a:tabLst>
                <a:tab pos="325120" algn="l"/>
              </a:tabLst>
            </a:pPr>
            <a:r>
              <a:rPr dirty="0" sz="2200" spc="-225">
                <a:solidFill>
                  <a:srgbClr val="3F3F3F"/>
                </a:solidFill>
                <a:latin typeface="Arial MT"/>
                <a:cs typeface="Arial MT"/>
              </a:rPr>
              <a:t>Select</a:t>
            </a:r>
            <a:r>
              <a:rPr dirty="0" sz="2200" spc="-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44444"/>
                </a:solidFill>
                <a:latin typeface="Arial MT"/>
                <a:cs typeface="Arial MT"/>
              </a:rPr>
              <a:t>Amazon</a:t>
            </a:r>
            <a:r>
              <a:rPr dirty="0" sz="2200" spc="-8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494949"/>
                </a:solidFill>
                <a:latin typeface="Arial MT"/>
                <a:cs typeface="Arial MT"/>
              </a:rPr>
              <a:t>Linux</a:t>
            </a:r>
            <a:r>
              <a:rPr dirty="0" sz="2200" spc="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444444"/>
                </a:solidFill>
                <a:latin typeface="Arial MT"/>
                <a:cs typeface="Arial MT"/>
              </a:rPr>
              <a:t>2023</a:t>
            </a:r>
            <a:r>
              <a:rPr dirty="0" sz="2200" spc="-1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330">
                <a:solidFill>
                  <a:srgbClr val="4B4B4B"/>
                </a:solidFill>
                <a:latin typeface="Arial MT"/>
                <a:cs typeface="Arial MT"/>
              </a:rPr>
              <a:t>as</a:t>
            </a:r>
            <a:r>
              <a:rPr dirty="0" sz="2200" spc="-8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200" spc="-2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494949"/>
                </a:solidFill>
                <a:latin typeface="Arial MT"/>
                <a:cs typeface="Arial MT"/>
              </a:rPr>
              <a:t>host</a:t>
            </a:r>
            <a:r>
              <a:rPr dirty="0" sz="2200" spc="-7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595959"/>
                </a:solidFill>
                <a:latin typeface="Arial MT"/>
                <a:cs typeface="Arial MT"/>
              </a:rPr>
              <a:t>Operating</a:t>
            </a:r>
            <a:r>
              <a:rPr dirty="0" sz="2200" spc="-1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494949"/>
                </a:solidFill>
                <a:latin typeface="Arial MT"/>
                <a:cs typeface="Arial MT"/>
              </a:rPr>
              <a:t>System.</a:t>
            </a:r>
            <a:endParaRPr sz="2200">
              <a:latin typeface="Arial MT"/>
              <a:cs typeface="Arial MT"/>
            </a:endParaRPr>
          </a:p>
          <a:p>
            <a:pPr marL="323215" marR="5080" indent="-283210">
              <a:lnSpc>
                <a:spcPct val="117100"/>
              </a:lnSpc>
              <a:spcBef>
                <a:spcPts val="1115"/>
              </a:spcBef>
              <a:buClr>
                <a:srgbClr val="4B5969"/>
              </a:buClr>
              <a:buChar char="•"/>
              <a:tabLst>
                <a:tab pos="323215" algn="l"/>
              </a:tabLst>
            </a:pPr>
            <a:r>
              <a:rPr dirty="0" sz="2200" spc="-190">
                <a:solidFill>
                  <a:srgbClr val="4B4B4B"/>
                </a:solidFill>
                <a:latin typeface="Arial MT"/>
                <a:cs typeface="Arial MT"/>
              </a:rPr>
              <a:t>Assign</a:t>
            </a:r>
            <a:r>
              <a:rPr dirty="0" sz="2200" spc="-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395">
                <a:solidFill>
                  <a:srgbClr val="505672"/>
                </a:solidFill>
                <a:latin typeface="Arial MT"/>
                <a:cs typeface="Arial MT"/>
              </a:rPr>
              <a:t>a</a:t>
            </a:r>
            <a:r>
              <a:rPr dirty="0" sz="2200" spc="-125">
                <a:solidFill>
                  <a:srgbClr val="505672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3D3D3D"/>
                </a:solidFill>
                <a:latin typeface="Arial MT"/>
                <a:cs typeface="Arial MT"/>
              </a:rPr>
              <a:t>standard</a:t>
            </a:r>
            <a:r>
              <a:rPr dirty="0" sz="2200" spc="9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424242"/>
                </a:solidFill>
                <a:latin typeface="Arial MT"/>
                <a:cs typeface="Arial MT"/>
              </a:rPr>
              <a:t>free-</a:t>
            </a:r>
            <a:r>
              <a:rPr dirty="0" sz="2200" spc="-85">
                <a:solidFill>
                  <a:srgbClr val="424242"/>
                </a:solidFill>
                <a:latin typeface="Arial MT"/>
                <a:cs typeface="Arial MT"/>
              </a:rPr>
              <a:t>tier</a:t>
            </a:r>
            <a:r>
              <a:rPr dirty="0" sz="2200" spc="-9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464646"/>
                </a:solidFill>
                <a:latin typeface="Arial MT"/>
                <a:cs typeface="Arial MT"/>
              </a:rPr>
              <a:t>eligible</a:t>
            </a:r>
            <a:r>
              <a:rPr dirty="0" sz="2200" spc="-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3B3B3B"/>
                </a:solidFill>
                <a:latin typeface="Arial MT"/>
                <a:cs typeface="Arial MT"/>
              </a:rPr>
              <a:t>t3.micro </a:t>
            </a:r>
            <a:r>
              <a:rPr dirty="0" sz="2200" spc="-165">
                <a:solidFill>
                  <a:srgbClr val="4F4F4F"/>
                </a:solidFill>
                <a:latin typeface="Arial MT"/>
                <a:cs typeface="Arial MT"/>
              </a:rPr>
              <a:t>instance</a:t>
            </a:r>
            <a:r>
              <a:rPr dirty="0" sz="2200" spc="-1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444444"/>
                </a:solidFill>
                <a:latin typeface="Arial MT"/>
                <a:cs typeface="Arial MT"/>
              </a:rPr>
              <a:t>type,</a:t>
            </a:r>
            <a:r>
              <a:rPr dirty="0" sz="2200" spc="-1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330">
                <a:solidFill>
                  <a:srgbClr val="424242"/>
                </a:solidFill>
                <a:latin typeface="Arial MT"/>
                <a:cs typeface="Arial MT"/>
              </a:rPr>
              <a:t>as</a:t>
            </a:r>
            <a:r>
              <a:rPr dirty="0" sz="2200" spc="-120">
                <a:solidFill>
                  <a:srgbClr val="424242"/>
                </a:solidFill>
                <a:latin typeface="Arial MT"/>
                <a:cs typeface="Arial MT"/>
              </a:rPr>
              <a:t> highlighted</a:t>
            </a:r>
            <a:r>
              <a:rPr dirty="0" sz="2200" spc="7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3F5667"/>
                </a:solidFill>
                <a:latin typeface="Arial MT"/>
                <a:cs typeface="Arial MT"/>
              </a:rPr>
              <a:t>in </a:t>
            </a:r>
            <a:r>
              <a:rPr dirty="0" sz="2200" spc="-70">
                <a:solidFill>
                  <a:srgbClr val="3F3F3F"/>
                </a:solidFill>
                <a:latin typeface="Arial MT"/>
                <a:cs typeface="Arial MT"/>
              </a:rPr>
              <a:t>1000150103.png.</a:t>
            </a:r>
            <a:endParaRPr sz="2200">
              <a:latin typeface="Arial MT"/>
              <a:cs typeface="Arial MT"/>
            </a:endParaRPr>
          </a:p>
          <a:p>
            <a:pPr marL="323850" indent="-283845">
              <a:lnSpc>
                <a:spcPct val="100000"/>
              </a:lnSpc>
              <a:spcBef>
                <a:spcPts val="1560"/>
              </a:spcBef>
              <a:buClr>
                <a:srgbClr val="445062"/>
              </a:buClr>
              <a:buChar char="•"/>
              <a:tabLst>
                <a:tab pos="323850" algn="l"/>
              </a:tabLst>
            </a:pPr>
            <a:r>
              <a:rPr dirty="0" sz="2200" spc="-145">
                <a:solidFill>
                  <a:srgbClr val="4F4F4F"/>
                </a:solidFill>
                <a:latin typeface="Arial MT"/>
                <a:cs typeface="Arial MT"/>
              </a:rPr>
              <a:t>Configure</a:t>
            </a:r>
            <a:r>
              <a:rPr dirty="0" sz="2200" spc="-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494949"/>
                </a:solidFill>
                <a:latin typeface="Arial MT"/>
                <a:cs typeface="Arial MT"/>
              </a:rPr>
              <a:t>network </a:t>
            </a:r>
            <a:r>
              <a:rPr dirty="0" sz="2200" spc="-150">
                <a:solidFill>
                  <a:srgbClr val="464646"/>
                </a:solidFill>
                <a:latin typeface="Arial MT"/>
                <a:cs typeface="Arial MT"/>
              </a:rPr>
              <a:t>rules</a:t>
            </a:r>
            <a:r>
              <a:rPr dirty="0" sz="2200" spc="-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748393"/>
                </a:solidFill>
                <a:latin typeface="Arial MT"/>
                <a:cs typeface="Arial MT"/>
              </a:rPr>
              <a:t>to</a:t>
            </a:r>
            <a:r>
              <a:rPr dirty="0" sz="2200" spc="-245">
                <a:solidFill>
                  <a:srgbClr val="748393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75859A"/>
                </a:solidFill>
                <a:latin typeface="Arial MT"/>
                <a:cs typeface="Arial MT"/>
              </a:rPr>
              <a:t>permit</a:t>
            </a:r>
            <a:r>
              <a:rPr dirty="0" sz="2200" spc="-30">
                <a:solidFill>
                  <a:srgbClr val="75859A"/>
                </a:solidFill>
                <a:latin typeface="Arial MT"/>
                <a:cs typeface="Arial MT"/>
              </a:rPr>
              <a:t> </a:t>
            </a:r>
            <a:r>
              <a:rPr dirty="0" sz="2200" spc="-265">
                <a:solidFill>
                  <a:srgbClr val="4F4F4F"/>
                </a:solidFill>
                <a:latin typeface="Arial MT"/>
                <a:cs typeface="Arial MT"/>
              </a:rPr>
              <a:t>HTTP</a:t>
            </a:r>
            <a:r>
              <a:rPr dirty="0" sz="22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4F4F4F"/>
                </a:solidFill>
                <a:latin typeface="Arial MT"/>
                <a:cs typeface="Arial MT"/>
              </a:rPr>
              <a:t>(Port</a:t>
            </a:r>
            <a:r>
              <a:rPr dirty="0" sz="2200" spc="-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D4D4D"/>
                </a:solidFill>
                <a:latin typeface="Arial MT"/>
                <a:cs typeface="Arial MT"/>
              </a:rPr>
              <a:t>80)</a:t>
            </a:r>
            <a:r>
              <a:rPr dirty="0" sz="22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D4D4D"/>
                </a:solidFill>
                <a:latin typeface="Arial MT"/>
                <a:cs typeface="Arial MT"/>
              </a:rPr>
              <a:t>traffic.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Step</a:t>
            </a:r>
            <a:r>
              <a:rPr dirty="0" spc="-415"/>
              <a:t> </a:t>
            </a:r>
            <a:r>
              <a:rPr dirty="0" spc="-225">
                <a:solidFill>
                  <a:srgbClr val="131313"/>
                </a:solidFill>
              </a:rPr>
              <a:t>3:</a:t>
            </a:r>
            <a:r>
              <a:rPr dirty="0" spc="-840">
                <a:solidFill>
                  <a:srgbClr val="131313"/>
                </a:solidFill>
              </a:rPr>
              <a:t> </a:t>
            </a:r>
            <a:r>
              <a:rPr dirty="0" spc="-225">
                <a:solidFill>
                  <a:srgbClr val="111111"/>
                </a:solidFill>
              </a:rPr>
              <a:t>Server-</a:t>
            </a:r>
            <a:r>
              <a:rPr dirty="0" spc="-240">
                <a:solidFill>
                  <a:srgbClr val="111111"/>
                </a:solidFill>
              </a:rPr>
              <a:t>J</a:t>
            </a:r>
            <a:r>
              <a:rPr dirty="0" spc="-420">
                <a:solidFill>
                  <a:srgbClr val="111111"/>
                </a:solidFill>
              </a:rPr>
              <a:t> </a:t>
            </a:r>
            <a:r>
              <a:rPr dirty="0" spc="-120">
                <a:solidFill>
                  <a:srgbClr val="0C0C0C"/>
                </a:solidFill>
              </a:rPr>
              <a:t>Provisioned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3158" y="4023171"/>
            <a:ext cx="3235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35DDA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235DDA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472FF"/>
                </a:solidFill>
                <a:latin typeface="Arial MT"/>
                <a:cs typeface="Arial MT"/>
              </a:rPr>
              <a:t>HAS</a:t>
            </a:r>
            <a:r>
              <a:rPr dirty="0" sz="1650" spc="-245">
                <a:solidFill>
                  <a:srgbClr val="3472F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2F4"/>
                </a:solidFill>
                <a:latin typeface="Arial MT"/>
                <a:cs typeface="Arial MT"/>
              </a:rPr>
              <a:t>E</a:t>
            </a:r>
            <a:r>
              <a:rPr dirty="0" sz="1650" spc="235">
                <a:solidFill>
                  <a:srgbClr val="2662F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35DF2"/>
                </a:solidFill>
                <a:latin typeface="Arial MT"/>
                <a:cs typeface="Arial MT"/>
              </a:rPr>
              <a:t>2</a:t>
            </a:r>
            <a:r>
              <a:rPr dirty="0" sz="1650">
                <a:solidFill>
                  <a:srgbClr val="316BD6"/>
                </a:solidFill>
                <a:latin typeface="Arial MT"/>
                <a:cs typeface="Arial MT"/>
              </a:rPr>
              <a:t>:</a:t>
            </a:r>
            <a:r>
              <a:rPr dirty="0" sz="1650" spc="320">
                <a:solidFill>
                  <a:srgbClr val="316BD6"/>
                </a:solidFill>
                <a:latin typeface="Arial MT"/>
                <a:cs typeface="Arial MT"/>
              </a:rPr>
              <a:t> </a:t>
            </a:r>
            <a:r>
              <a:rPr dirty="0" sz="1650" spc="-180">
                <a:solidFill>
                  <a:srgbClr val="2F5DCF"/>
                </a:solidFill>
                <a:latin typeface="Arial MT"/>
                <a:cs typeface="Arial MT"/>
              </a:rPr>
              <a:t>T</a:t>
            </a:r>
            <a:r>
              <a:rPr dirty="0" sz="1650" spc="-30">
                <a:solidFill>
                  <a:srgbClr val="2F5DCF"/>
                </a:solidFill>
                <a:latin typeface="Arial MT"/>
                <a:cs typeface="Arial MT"/>
              </a:rPr>
              <a:t> </a:t>
            </a:r>
            <a:r>
              <a:rPr dirty="0" sz="1650" spc="-80">
                <a:solidFill>
                  <a:srgbClr val="2A5DE4"/>
                </a:solidFill>
                <a:latin typeface="Arial MT"/>
                <a:cs typeface="Arial MT"/>
              </a:rPr>
              <a:t>ARG</a:t>
            </a:r>
            <a:r>
              <a:rPr dirty="0" sz="1650" spc="-195">
                <a:solidFill>
                  <a:srgbClr val="2A5DE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A64EF"/>
                </a:solidFill>
                <a:latin typeface="Arial MT"/>
                <a:cs typeface="Arial MT"/>
              </a:rPr>
              <a:t>ET</a:t>
            </a:r>
            <a:r>
              <a:rPr dirty="0" sz="1650" spc="390">
                <a:solidFill>
                  <a:srgbClr val="2A64EF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D52D6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2D52D6"/>
                </a:solidFill>
                <a:latin typeface="Arial MT"/>
                <a:cs typeface="Arial MT"/>
              </a:rPr>
              <a:t> </a:t>
            </a:r>
            <a:r>
              <a:rPr dirty="0" sz="1650" spc="-370">
                <a:solidFill>
                  <a:srgbClr val="1869FB"/>
                </a:solidFill>
                <a:latin typeface="Arial MT"/>
                <a:cs typeface="Arial MT"/>
              </a:rPr>
              <a:t>R</a:t>
            </a:r>
            <a:r>
              <a:rPr dirty="0" sz="1650" spc="-170">
                <a:solidFill>
                  <a:srgbClr val="1869FB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2664F2"/>
                </a:solidFill>
                <a:latin typeface="Arial MT"/>
                <a:cs typeface="Arial MT"/>
              </a:rPr>
              <a:t>EAT</a:t>
            </a:r>
            <a:r>
              <a:rPr dirty="0" sz="1650" spc="-80">
                <a:solidFill>
                  <a:srgbClr val="2664F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662D4"/>
                </a:solidFill>
                <a:latin typeface="Arial MT"/>
                <a:cs typeface="Arial MT"/>
              </a:rPr>
              <a:t>IO</a:t>
            </a:r>
            <a:r>
              <a:rPr dirty="0" sz="1650" spc="-150">
                <a:solidFill>
                  <a:srgbClr val="3662D4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0F56DD"/>
                </a:solidFill>
                <a:latin typeface="Arial MT"/>
                <a:cs typeface="Arial MT"/>
              </a:rPr>
              <a:t>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541" y="4610850"/>
            <a:ext cx="59080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70">
                <a:solidFill>
                  <a:srgbClr val="0C0C0C"/>
                </a:solidFill>
                <a:latin typeface="Arial MT"/>
                <a:cs typeface="Arial MT"/>
              </a:rPr>
              <a:t>Server-</a:t>
            </a:r>
            <a:r>
              <a:rPr dirty="0" sz="3450" spc="-75">
                <a:solidFill>
                  <a:srgbClr val="0C0C0C"/>
                </a:solidFill>
                <a:latin typeface="Arial MT"/>
                <a:cs typeface="Arial MT"/>
              </a:rPr>
              <a:t>J</a:t>
            </a:r>
            <a:r>
              <a:rPr dirty="0" sz="3450" spc="-18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450" spc="-20">
                <a:solidFill>
                  <a:srgbClr val="0F0F0F"/>
                </a:solidFill>
                <a:latin typeface="Arial MT"/>
                <a:cs typeface="Arial MT"/>
              </a:rPr>
              <a:t>Successfully</a:t>
            </a:r>
            <a:r>
              <a:rPr dirty="0" sz="3450" spc="-1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450" spc="90">
                <a:solidFill>
                  <a:srgbClr val="111111"/>
                </a:solidFill>
                <a:latin typeface="Arial MT"/>
                <a:cs typeface="Arial MT"/>
              </a:rPr>
              <a:t>Initiated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4138" y="5591187"/>
            <a:ext cx="8382634" cy="2589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25">
                <a:solidFill>
                  <a:srgbClr val="4D5969"/>
                </a:solidFill>
                <a:latin typeface="Arial MT"/>
                <a:cs typeface="Arial MT"/>
              </a:rPr>
              <a:t>We</a:t>
            </a:r>
            <a:r>
              <a:rPr dirty="0" sz="2200" spc="-195">
                <a:solidFill>
                  <a:srgbClr val="4D5969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525252"/>
                </a:solidFill>
                <a:latin typeface="Arial MT"/>
                <a:cs typeface="Arial MT"/>
              </a:rPr>
              <a:t>monitor</a:t>
            </a:r>
            <a:r>
              <a:rPr dirty="0" sz="2200" spc="-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24242"/>
                </a:solidFill>
                <a:latin typeface="Arial MT"/>
                <a:cs typeface="Arial MT"/>
              </a:rPr>
              <a:t>the</a:t>
            </a:r>
            <a:r>
              <a:rPr dirty="0" sz="2200" spc="-1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D4D4D"/>
                </a:solidFill>
                <a:latin typeface="Arial MT"/>
                <a:cs typeface="Arial MT"/>
              </a:rPr>
              <a:t>deployment</a:t>
            </a:r>
            <a:r>
              <a:rPr dirty="0" sz="2200" spc="1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3F3F3F"/>
                </a:solidFill>
                <a:latin typeface="Arial MT"/>
                <a:cs typeface="Arial MT"/>
              </a:rPr>
              <a:t>process</a:t>
            </a:r>
            <a:r>
              <a:rPr dirty="0" sz="220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2200" spc="-229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494949"/>
                </a:solidFill>
                <a:latin typeface="Arial MT"/>
                <a:cs typeface="Arial MT"/>
              </a:rPr>
              <a:t>ensure</a:t>
            </a:r>
            <a:r>
              <a:rPr dirty="0" sz="2200" spc="-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24242"/>
                </a:solidFill>
                <a:latin typeface="Arial MT"/>
                <a:cs typeface="Arial MT"/>
              </a:rPr>
              <a:t>the</a:t>
            </a:r>
            <a:r>
              <a:rPr dirty="0" sz="2200" spc="-19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165">
                <a:solidFill>
                  <a:srgbClr val="4D4D4D"/>
                </a:solidFill>
                <a:latin typeface="Arial MT"/>
                <a:cs typeface="Arial MT"/>
              </a:rPr>
              <a:t>instance</a:t>
            </a:r>
            <a:r>
              <a:rPr dirty="0" sz="220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B4B4B"/>
                </a:solidFill>
                <a:latin typeface="Arial MT"/>
                <a:cs typeface="Arial MT"/>
              </a:rPr>
              <a:t>registers</a:t>
            </a:r>
            <a:r>
              <a:rPr dirty="0" sz="2200" spc="-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525252"/>
                </a:solidFill>
                <a:latin typeface="Arial MT"/>
                <a:cs typeface="Arial MT"/>
              </a:rPr>
              <a:t>properly.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Arial MT"/>
              <a:cs typeface="Arial MT"/>
            </a:endParaRPr>
          </a:p>
          <a:p>
            <a:pPr marL="322580" indent="-282575">
              <a:lnSpc>
                <a:spcPct val="100000"/>
              </a:lnSpc>
              <a:spcBef>
                <a:spcPts val="5"/>
              </a:spcBef>
              <a:buClr>
                <a:srgbClr val="445467"/>
              </a:buClr>
              <a:buChar char="•"/>
              <a:tabLst>
                <a:tab pos="322580" algn="l"/>
              </a:tabLst>
            </a:pPr>
            <a:r>
              <a:rPr dirty="0" sz="2200" spc="-70">
                <a:solidFill>
                  <a:srgbClr val="494949"/>
                </a:solidFill>
                <a:latin typeface="Arial MT"/>
                <a:cs typeface="Arial MT"/>
              </a:rPr>
              <a:t>After</a:t>
            </a:r>
            <a:r>
              <a:rPr dirty="0" sz="2200" spc="-1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484848"/>
                </a:solidFill>
                <a:latin typeface="Arial MT"/>
                <a:cs typeface="Arial MT"/>
              </a:rPr>
              <a:t>setting</a:t>
            </a:r>
            <a:r>
              <a:rPr dirty="0" sz="2200" spc="-229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484848"/>
                </a:solidFill>
                <a:latin typeface="Arial MT"/>
                <a:cs typeface="Arial MT"/>
              </a:rPr>
              <a:t>configuration</a:t>
            </a:r>
            <a:r>
              <a:rPr dirty="0" sz="2200" spc="2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3D3D3D"/>
                </a:solidFill>
                <a:latin typeface="Arial MT"/>
                <a:cs typeface="Arial MT"/>
              </a:rPr>
              <a:t>preferences,</a:t>
            </a:r>
            <a:r>
              <a:rPr dirty="0" sz="2200" spc="5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94949"/>
                </a:solidFill>
                <a:latin typeface="Arial MT"/>
                <a:cs typeface="Arial MT"/>
              </a:rPr>
              <a:t>launch</a:t>
            </a:r>
            <a:r>
              <a:rPr dirty="0" sz="2200" spc="-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44444"/>
                </a:solidFill>
                <a:latin typeface="Arial MT"/>
                <a:cs typeface="Arial MT"/>
              </a:rPr>
              <a:t>the </a:t>
            </a:r>
            <a:r>
              <a:rPr dirty="0" sz="2200" spc="-80">
                <a:solidFill>
                  <a:srgbClr val="4D4D4D"/>
                </a:solidFill>
                <a:latin typeface="Arial MT"/>
                <a:cs typeface="Arial MT"/>
              </a:rPr>
              <a:t>virtual</a:t>
            </a:r>
            <a:r>
              <a:rPr dirty="0" sz="2200" spc="-13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464646"/>
                </a:solidFill>
                <a:latin typeface="Arial MT"/>
                <a:cs typeface="Arial MT"/>
              </a:rPr>
              <a:t>machine.</a:t>
            </a:r>
            <a:endParaRPr sz="2200">
              <a:latin typeface="Arial MT"/>
              <a:cs typeface="Arial MT"/>
            </a:endParaRPr>
          </a:p>
          <a:p>
            <a:pPr marL="330200" indent="-290195">
              <a:lnSpc>
                <a:spcPct val="100000"/>
              </a:lnSpc>
              <a:spcBef>
                <a:spcPts val="1440"/>
              </a:spcBef>
              <a:buClr>
                <a:srgbClr val="445062"/>
              </a:buClr>
              <a:buChar char="•"/>
              <a:tabLst>
                <a:tab pos="330200" algn="l"/>
              </a:tabLst>
            </a:pPr>
            <a:r>
              <a:rPr dirty="0" sz="2200" spc="-305">
                <a:solidFill>
                  <a:srgbClr val="647C8C"/>
                </a:solidFill>
                <a:latin typeface="Arial MT"/>
                <a:cs typeface="Arial MT"/>
              </a:rPr>
              <a:t>AWS</a:t>
            </a:r>
            <a:r>
              <a:rPr dirty="0" sz="2200" spc="-229">
                <a:solidFill>
                  <a:srgbClr val="647C8C"/>
                </a:solidFill>
                <a:latin typeface="Arial MT"/>
                <a:cs typeface="Arial MT"/>
              </a:rPr>
              <a:t> </a:t>
            </a:r>
            <a:r>
              <a:rPr dirty="0" sz="2200" spc="-215">
                <a:solidFill>
                  <a:srgbClr val="444444"/>
                </a:solidFill>
                <a:latin typeface="Arial MT"/>
                <a:cs typeface="Arial MT"/>
              </a:rPr>
              <a:t>issues</a:t>
            </a:r>
            <a:r>
              <a:rPr dirty="0" sz="2200" spc="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395">
                <a:solidFill>
                  <a:srgbClr val="46566B"/>
                </a:solidFill>
                <a:latin typeface="Arial MT"/>
                <a:cs typeface="Arial MT"/>
              </a:rPr>
              <a:t>a</a:t>
            </a:r>
            <a:r>
              <a:rPr dirty="0" sz="2200" spc="-30">
                <a:solidFill>
                  <a:srgbClr val="46566B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414141"/>
                </a:solidFill>
                <a:latin typeface="Arial MT"/>
                <a:cs typeface="Arial MT"/>
              </a:rPr>
              <a:t>successful</a:t>
            </a:r>
            <a:r>
              <a:rPr dirty="0" sz="2200" spc="7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64646"/>
                </a:solidFill>
                <a:latin typeface="Arial MT"/>
                <a:cs typeface="Arial MT"/>
              </a:rPr>
              <a:t>initialization</a:t>
            </a:r>
            <a:r>
              <a:rPr dirty="0" sz="2200" spc="-2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444444"/>
                </a:solidFill>
                <a:latin typeface="Arial MT"/>
                <a:cs typeface="Arial MT"/>
              </a:rPr>
              <a:t>state,</a:t>
            </a:r>
            <a:r>
              <a:rPr dirty="0" sz="2200" spc="-2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F4F4F"/>
                </a:solidFill>
                <a:latin typeface="Arial MT"/>
                <a:cs typeface="Arial MT"/>
              </a:rPr>
              <a:t>confirmed</a:t>
            </a:r>
            <a:r>
              <a:rPr dirty="0" sz="2200" spc="1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494949"/>
                </a:solidFill>
                <a:latin typeface="Arial MT"/>
                <a:cs typeface="Arial MT"/>
              </a:rPr>
              <a:t>in</a:t>
            </a:r>
            <a:r>
              <a:rPr dirty="0" sz="2200" spc="-19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4B4B4B"/>
                </a:solidFill>
                <a:latin typeface="Arial MT"/>
                <a:cs typeface="Arial MT"/>
              </a:rPr>
              <a:t>1000150104.png.</a:t>
            </a:r>
            <a:endParaRPr sz="2200">
              <a:latin typeface="Arial MT"/>
              <a:cs typeface="Arial MT"/>
            </a:endParaRPr>
          </a:p>
          <a:p>
            <a:pPr marL="327660" indent="-287655">
              <a:lnSpc>
                <a:spcPct val="100000"/>
              </a:lnSpc>
              <a:spcBef>
                <a:spcPts val="1565"/>
              </a:spcBef>
              <a:buClr>
                <a:srgbClr val="46546B"/>
              </a:buClr>
              <a:buChar char="•"/>
              <a:tabLst>
                <a:tab pos="327660" algn="l"/>
              </a:tabLst>
            </a:pPr>
            <a:r>
              <a:rPr dirty="0" sz="2200" spc="-170">
                <a:solidFill>
                  <a:srgbClr val="494949"/>
                </a:solidFill>
                <a:latin typeface="Arial MT"/>
                <a:cs typeface="Arial MT"/>
              </a:rPr>
              <a:t>Instance</a:t>
            </a:r>
            <a:r>
              <a:rPr dirty="0" sz="2200" spc="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D4D4D"/>
                </a:solidFill>
                <a:latin typeface="Arial MT"/>
                <a:cs typeface="Arial MT"/>
              </a:rPr>
              <a:t>ID</a:t>
            </a:r>
            <a:r>
              <a:rPr dirty="0" sz="2200" spc="-2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3B3B3B"/>
                </a:solidFill>
                <a:latin typeface="Arial MT"/>
                <a:cs typeface="Arial MT"/>
              </a:rPr>
              <a:t>i-</a:t>
            </a:r>
            <a:r>
              <a:rPr dirty="0" sz="2200" spc="-85">
                <a:solidFill>
                  <a:srgbClr val="3B3B3B"/>
                </a:solidFill>
                <a:latin typeface="Arial MT"/>
                <a:cs typeface="Arial MT"/>
              </a:rPr>
              <a:t>070e2088342250fc6transitions</a:t>
            </a:r>
            <a:r>
              <a:rPr dirty="0" sz="2200" spc="-114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525252"/>
                </a:solidFill>
                <a:latin typeface="Arial MT"/>
                <a:cs typeface="Arial MT"/>
              </a:rPr>
              <a:t>to</a:t>
            </a:r>
            <a:r>
              <a:rPr dirty="0" sz="2200" spc="-1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444444"/>
                </a:solidFill>
                <a:latin typeface="Arial MT"/>
                <a:cs typeface="Arial MT"/>
              </a:rPr>
              <a:t>active</a:t>
            </a:r>
            <a:r>
              <a:rPr dirty="0" sz="2200" spc="-1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384959"/>
                </a:solidFill>
                <a:latin typeface="Arial MT"/>
                <a:cs typeface="Arial MT"/>
              </a:rPr>
              <a:t>pending</a:t>
            </a:r>
            <a:r>
              <a:rPr dirty="0" sz="2200" spc="-95">
                <a:solidFill>
                  <a:srgbClr val="384959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status.</a:t>
            </a:r>
            <a:endParaRPr sz="2200">
              <a:latin typeface="Arial MT"/>
              <a:cs typeface="Arial MT"/>
            </a:endParaRPr>
          </a:p>
          <a:p>
            <a:pPr marL="323850" indent="-283845">
              <a:lnSpc>
                <a:spcPct val="100000"/>
              </a:lnSpc>
              <a:spcBef>
                <a:spcPts val="1440"/>
              </a:spcBef>
              <a:buClr>
                <a:srgbClr val="49546D"/>
              </a:buClr>
              <a:buChar char="•"/>
              <a:tabLst>
                <a:tab pos="323850" algn="l"/>
              </a:tabLst>
            </a:pPr>
            <a:r>
              <a:rPr dirty="0" sz="2200" spc="-165">
                <a:solidFill>
                  <a:srgbClr val="6E7783"/>
                </a:solidFill>
                <a:latin typeface="Arial MT"/>
                <a:cs typeface="Arial MT"/>
              </a:rPr>
              <a:t>Under</a:t>
            </a:r>
            <a:r>
              <a:rPr dirty="0" sz="2200" spc="-5">
                <a:solidFill>
                  <a:srgbClr val="6E7783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200" spc="-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696B87"/>
                </a:solidFill>
                <a:latin typeface="Arial MT"/>
                <a:cs typeface="Arial MT"/>
              </a:rPr>
              <a:t>"Next</a:t>
            </a:r>
            <a:r>
              <a:rPr dirty="0" sz="2200" spc="-15">
                <a:solidFill>
                  <a:srgbClr val="696B87"/>
                </a:solidFill>
                <a:latin typeface="Arial MT"/>
                <a:cs typeface="Arial MT"/>
              </a:rPr>
              <a:t> </a:t>
            </a:r>
            <a:r>
              <a:rPr dirty="0" sz="2200" spc="-240">
                <a:solidFill>
                  <a:srgbClr val="444444"/>
                </a:solidFill>
                <a:latin typeface="Arial MT"/>
                <a:cs typeface="Arial MT"/>
              </a:rPr>
              <a:t>Steps",</a:t>
            </a:r>
            <a:r>
              <a:rPr dirty="0" sz="2200" spc="-1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424242"/>
                </a:solidFill>
                <a:latin typeface="Arial MT"/>
                <a:cs typeface="Arial MT"/>
              </a:rPr>
              <a:t>we</a:t>
            </a:r>
            <a:r>
              <a:rPr dirty="0" sz="2200" spc="-19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165">
                <a:solidFill>
                  <a:srgbClr val="484848"/>
                </a:solidFill>
                <a:latin typeface="Arial MT"/>
                <a:cs typeface="Arial MT"/>
              </a:rPr>
              <a:t>prepare</a:t>
            </a:r>
            <a:r>
              <a:rPr dirty="0" sz="2200" spc="-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D4D4D"/>
                </a:solidFill>
                <a:latin typeface="Arial MT"/>
                <a:cs typeface="Arial MT"/>
              </a:rPr>
              <a:t>to</a:t>
            </a:r>
            <a:r>
              <a:rPr dirty="0" sz="2200" spc="-2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3F5664"/>
                </a:solidFill>
                <a:latin typeface="Arial MT"/>
                <a:cs typeface="Arial MT"/>
              </a:rPr>
              <a:t>deploy</a:t>
            </a:r>
            <a:r>
              <a:rPr dirty="0" sz="2200" spc="-10">
                <a:solidFill>
                  <a:srgbClr val="3F5664"/>
                </a:solidFill>
                <a:latin typeface="Arial MT"/>
                <a:cs typeface="Arial MT"/>
              </a:rPr>
              <a:t> </a:t>
            </a:r>
            <a:r>
              <a:rPr dirty="0" sz="2200" spc="-395">
                <a:solidFill>
                  <a:srgbClr val="3B505D"/>
                </a:solidFill>
                <a:latin typeface="Arial MT"/>
                <a:cs typeface="Arial MT"/>
              </a:rPr>
              <a:t>a</a:t>
            </a:r>
            <a:r>
              <a:rPr dirty="0" sz="2200" spc="-125">
                <a:solidFill>
                  <a:srgbClr val="3B505D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B4B4B"/>
                </a:solidFill>
                <a:latin typeface="Arial MT"/>
                <a:cs typeface="Arial MT"/>
              </a:rPr>
              <a:t>redundant</a:t>
            </a:r>
            <a:r>
              <a:rPr dirty="0" sz="2200" spc="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84848"/>
                </a:solidFill>
                <a:latin typeface="Arial MT"/>
                <a:cs typeface="Arial MT"/>
              </a:rPr>
              <a:t>host.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Step</a:t>
            </a:r>
            <a:r>
              <a:rPr dirty="0" spc="-250"/>
              <a:t> </a:t>
            </a:r>
            <a:r>
              <a:rPr dirty="0" spc="-70">
                <a:solidFill>
                  <a:srgbClr val="181818"/>
                </a:solidFill>
              </a:rPr>
              <a:t>4:</a:t>
            </a:r>
            <a:r>
              <a:rPr dirty="0" spc="-70"/>
              <a:t>Launching</a:t>
            </a:r>
            <a:r>
              <a:rPr dirty="0" spc="-254"/>
              <a:t> </a:t>
            </a:r>
            <a:r>
              <a:rPr dirty="0" spc="-155">
                <a:solidFill>
                  <a:srgbClr val="131313"/>
                </a:solidFill>
              </a:rPr>
              <a:t>Server-</a:t>
            </a:r>
            <a:r>
              <a:rPr dirty="0" spc="-50">
                <a:solidFill>
                  <a:srgbClr val="131313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3158" y="4023171"/>
            <a:ext cx="3235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35DDA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235DDA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472FF"/>
                </a:solidFill>
                <a:latin typeface="Arial MT"/>
                <a:cs typeface="Arial MT"/>
              </a:rPr>
              <a:t>HAS</a:t>
            </a:r>
            <a:r>
              <a:rPr dirty="0" sz="1650" spc="-245">
                <a:solidFill>
                  <a:srgbClr val="3472F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2F4"/>
                </a:solidFill>
                <a:latin typeface="Arial MT"/>
                <a:cs typeface="Arial MT"/>
              </a:rPr>
              <a:t>E</a:t>
            </a:r>
            <a:r>
              <a:rPr dirty="0" sz="1650" spc="235">
                <a:solidFill>
                  <a:srgbClr val="2662F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35DF2"/>
                </a:solidFill>
                <a:latin typeface="Arial MT"/>
                <a:cs typeface="Arial MT"/>
              </a:rPr>
              <a:t>2</a:t>
            </a:r>
            <a:r>
              <a:rPr dirty="0" sz="1650">
                <a:solidFill>
                  <a:srgbClr val="316BD6"/>
                </a:solidFill>
                <a:latin typeface="Arial MT"/>
                <a:cs typeface="Arial MT"/>
              </a:rPr>
              <a:t>:</a:t>
            </a:r>
            <a:r>
              <a:rPr dirty="0" sz="1650" spc="320">
                <a:solidFill>
                  <a:srgbClr val="316BD6"/>
                </a:solidFill>
                <a:latin typeface="Arial MT"/>
                <a:cs typeface="Arial MT"/>
              </a:rPr>
              <a:t> </a:t>
            </a:r>
            <a:r>
              <a:rPr dirty="0" sz="1650" spc="-180">
                <a:solidFill>
                  <a:srgbClr val="2F5DCF"/>
                </a:solidFill>
                <a:latin typeface="Arial MT"/>
                <a:cs typeface="Arial MT"/>
              </a:rPr>
              <a:t>T</a:t>
            </a:r>
            <a:r>
              <a:rPr dirty="0" sz="1650" spc="-30">
                <a:solidFill>
                  <a:srgbClr val="2F5DCF"/>
                </a:solidFill>
                <a:latin typeface="Arial MT"/>
                <a:cs typeface="Arial MT"/>
              </a:rPr>
              <a:t> </a:t>
            </a:r>
            <a:r>
              <a:rPr dirty="0" sz="1650" spc="-80">
                <a:solidFill>
                  <a:srgbClr val="2A5DE4"/>
                </a:solidFill>
                <a:latin typeface="Arial MT"/>
                <a:cs typeface="Arial MT"/>
              </a:rPr>
              <a:t>ARG</a:t>
            </a:r>
            <a:r>
              <a:rPr dirty="0" sz="1650" spc="-195">
                <a:solidFill>
                  <a:srgbClr val="2A5DE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A64EF"/>
                </a:solidFill>
                <a:latin typeface="Arial MT"/>
                <a:cs typeface="Arial MT"/>
              </a:rPr>
              <a:t>ET</a:t>
            </a:r>
            <a:r>
              <a:rPr dirty="0" sz="1650" spc="390">
                <a:solidFill>
                  <a:srgbClr val="2A64EF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D52D6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2D52D6"/>
                </a:solidFill>
                <a:latin typeface="Arial MT"/>
                <a:cs typeface="Arial MT"/>
              </a:rPr>
              <a:t> </a:t>
            </a:r>
            <a:r>
              <a:rPr dirty="0" sz="1650" spc="-370">
                <a:solidFill>
                  <a:srgbClr val="1869FB"/>
                </a:solidFill>
                <a:latin typeface="Arial MT"/>
                <a:cs typeface="Arial MT"/>
              </a:rPr>
              <a:t>R</a:t>
            </a:r>
            <a:r>
              <a:rPr dirty="0" sz="1650" spc="-170">
                <a:solidFill>
                  <a:srgbClr val="1869FB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2664F2"/>
                </a:solidFill>
                <a:latin typeface="Arial MT"/>
                <a:cs typeface="Arial MT"/>
              </a:rPr>
              <a:t>EAT</a:t>
            </a:r>
            <a:r>
              <a:rPr dirty="0" sz="1650" spc="-80">
                <a:solidFill>
                  <a:srgbClr val="2664F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662D4"/>
                </a:solidFill>
                <a:latin typeface="Arial MT"/>
                <a:cs typeface="Arial MT"/>
              </a:rPr>
              <a:t>IO</a:t>
            </a:r>
            <a:r>
              <a:rPr dirty="0" sz="1650" spc="-150">
                <a:solidFill>
                  <a:srgbClr val="3662D4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0F56DD"/>
                </a:solidFill>
                <a:latin typeface="Arial MT"/>
                <a:cs typeface="Arial MT"/>
              </a:rPr>
              <a:t>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680" y="4643571"/>
            <a:ext cx="8562340" cy="35375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110">
                <a:solidFill>
                  <a:srgbClr val="0C0C0C"/>
                </a:solidFill>
                <a:latin typeface="Arial MT"/>
                <a:cs typeface="Arial MT"/>
              </a:rPr>
              <a:t>Provisioning</a:t>
            </a:r>
            <a:r>
              <a:rPr dirty="0" sz="3200" spc="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200" spc="60">
                <a:solidFill>
                  <a:srgbClr val="151515"/>
                </a:solidFill>
                <a:latin typeface="Arial MT"/>
                <a:cs typeface="Arial MT"/>
              </a:rPr>
              <a:t>Web</a:t>
            </a:r>
            <a:r>
              <a:rPr dirty="0" sz="3200" spc="-18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3200" spc="95">
                <a:solidFill>
                  <a:srgbClr val="161616"/>
                </a:solidFill>
                <a:latin typeface="Arial MT"/>
                <a:cs typeface="Arial MT"/>
              </a:rPr>
              <a:t>Server-</a:t>
            </a:r>
            <a:r>
              <a:rPr dirty="0" sz="3200" spc="65">
                <a:solidFill>
                  <a:srgbClr val="161616"/>
                </a:solidFill>
                <a:latin typeface="Arial MT"/>
                <a:cs typeface="Arial MT"/>
              </a:rPr>
              <a:t>2</a:t>
            </a:r>
            <a:endParaRPr sz="32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3590"/>
              </a:spcBef>
            </a:pPr>
            <a:r>
              <a:rPr dirty="0" sz="2200" spc="-204">
                <a:solidFill>
                  <a:srgbClr val="525252"/>
                </a:solidFill>
                <a:latin typeface="Arial MT"/>
                <a:cs typeface="Arial MT"/>
              </a:rPr>
              <a:t>For</a:t>
            </a:r>
            <a:r>
              <a:rPr dirty="0" sz="2200" spc="-10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464646"/>
                </a:solidFill>
                <a:latin typeface="Arial MT"/>
                <a:cs typeface="Arial MT"/>
              </a:rPr>
              <a:t>high-</a:t>
            </a:r>
            <a:r>
              <a:rPr dirty="0" sz="2200" spc="-95">
                <a:solidFill>
                  <a:srgbClr val="464646"/>
                </a:solidFill>
                <a:latin typeface="Arial MT"/>
                <a:cs typeface="Arial MT"/>
              </a:rPr>
              <a:t>availability,</a:t>
            </a:r>
            <a:r>
              <a:rPr dirty="0" sz="2200" spc="-31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235">
                <a:solidFill>
                  <a:srgbClr val="4B4B4B"/>
                </a:solidFill>
                <a:latin typeface="Arial MT"/>
                <a:cs typeface="Arial MT"/>
              </a:rPr>
              <a:t>we</a:t>
            </a:r>
            <a:r>
              <a:rPr dirty="0" sz="2200" spc="-17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D4D4D"/>
                </a:solidFill>
                <a:latin typeface="Arial MT"/>
                <a:cs typeface="Arial MT"/>
              </a:rPr>
              <a:t>deploy</a:t>
            </a:r>
            <a:r>
              <a:rPr dirty="0" sz="2200" spc="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395">
                <a:solidFill>
                  <a:srgbClr val="59647B"/>
                </a:solidFill>
                <a:latin typeface="Arial MT"/>
                <a:cs typeface="Arial MT"/>
              </a:rPr>
              <a:t>a</a:t>
            </a:r>
            <a:r>
              <a:rPr dirty="0" sz="2200" spc="-90">
                <a:solidFill>
                  <a:srgbClr val="59647B"/>
                </a:solidFill>
                <a:latin typeface="Arial MT"/>
                <a:cs typeface="Arial MT"/>
              </a:rPr>
              <a:t> </a:t>
            </a:r>
            <a:r>
              <a:rPr dirty="0" sz="2200" spc="-160">
                <a:solidFill>
                  <a:srgbClr val="494949"/>
                </a:solidFill>
                <a:latin typeface="Arial MT"/>
                <a:cs typeface="Arial MT"/>
              </a:rPr>
              <a:t>symmetrical</a:t>
            </a:r>
            <a:r>
              <a:rPr dirty="0" sz="2200" spc="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4B4B4B"/>
                </a:solidFill>
                <a:latin typeface="Arial MT"/>
                <a:cs typeface="Arial MT"/>
              </a:rPr>
              <a:t>secondary</a:t>
            </a:r>
            <a:r>
              <a:rPr dirty="0" sz="22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3D3D3D"/>
                </a:solidFill>
                <a:latin typeface="Arial MT"/>
                <a:cs typeface="Arial MT"/>
              </a:rPr>
              <a:t>instance.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Arial MT"/>
              <a:cs typeface="Arial MT"/>
            </a:endParaRPr>
          </a:p>
          <a:p>
            <a:pPr marL="334645" indent="-281940">
              <a:lnSpc>
                <a:spcPct val="100000"/>
              </a:lnSpc>
              <a:buClr>
                <a:srgbClr val="445467"/>
              </a:buClr>
              <a:buChar char="•"/>
              <a:tabLst>
                <a:tab pos="334645" algn="l"/>
              </a:tabLst>
            </a:pPr>
            <a:r>
              <a:rPr dirty="0" sz="2200" spc="-190">
                <a:solidFill>
                  <a:srgbClr val="494949"/>
                </a:solidFill>
                <a:latin typeface="Arial MT"/>
                <a:cs typeface="Arial MT"/>
              </a:rPr>
              <a:t>Assign</a:t>
            </a:r>
            <a:r>
              <a:rPr dirty="0" sz="2200" spc="-9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2200" spc="-18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245">
                <a:solidFill>
                  <a:srgbClr val="4D4D4D"/>
                </a:solidFill>
                <a:latin typeface="Arial MT"/>
                <a:cs typeface="Arial MT"/>
              </a:rPr>
              <a:t>name</a:t>
            </a:r>
            <a:r>
              <a:rPr dirty="0" sz="2200" spc="-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505775"/>
                </a:solidFill>
                <a:latin typeface="Arial MT"/>
                <a:cs typeface="Arial MT"/>
              </a:rPr>
              <a:t>tag</a:t>
            </a:r>
            <a:r>
              <a:rPr dirty="0" sz="2200" spc="-300">
                <a:solidFill>
                  <a:srgbClr val="505775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64646"/>
                </a:solidFill>
                <a:latin typeface="Arial MT"/>
                <a:cs typeface="Arial MT"/>
              </a:rPr>
              <a:t>server-</a:t>
            </a:r>
            <a:r>
              <a:rPr dirty="0" sz="2200">
                <a:solidFill>
                  <a:srgbClr val="464646"/>
                </a:solidFill>
                <a:latin typeface="Arial MT"/>
                <a:cs typeface="Arial MT"/>
              </a:rPr>
              <a:t>2to</a:t>
            </a:r>
            <a:r>
              <a:rPr dirty="0" sz="2200" spc="-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94949"/>
                </a:solidFill>
                <a:latin typeface="Arial MT"/>
                <a:cs typeface="Arial MT"/>
              </a:rPr>
              <a:t>identify</a:t>
            </a:r>
            <a:r>
              <a:rPr dirty="0" sz="2200" spc="-6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3D3D3D"/>
                </a:solidFill>
                <a:latin typeface="Arial MT"/>
                <a:cs typeface="Arial MT"/>
              </a:rPr>
              <a:t>the</a:t>
            </a:r>
            <a:r>
              <a:rPr dirty="0" sz="2200" spc="-17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-225">
                <a:solidFill>
                  <a:srgbClr val="424242"/>
                </a:solidFill>
                <a:latin typeface="Arial MT"/>
                <a:cs typeface="Arial MT"/>
              </a:rPr>
              <a:t>second</a:t>
            </a:r>
            <a:r>
              <a:rPr dirty="0" sz="2200" spc="-3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444444"/>
                </a:solidFill>
                <a:latin typeface="Arial MT"/>
                <a:cs typeface="Arial MT"/>
              </a:rPr>
              <a:t>instance.</a:t>
            </a:r>
            <a:endParaRPr sz="2200">
              <a:latin typeface="Arial MT"/>
              <a:cs typeface="Arial MT"/>
            </a:endParaRPr>
          </a:p>
          <a:p>
            <a:pPr marL="337185" indent="-284480">
              <a:lnSpc>
                <a:spcPct val="100000"/>
              </a:lnSpc>
              <a:spcBef>
                <a:spcPts val="1440"/>
              </a:spcBef>
              <a:buClr>
                <a:srgbClr val="445062"/>
              </a:buClr>
              <a:buChar char="•"/>
              <a:tabLst>
                <a:tab pos="337185" algn="l"/>
              </a:tabLst>
            </a:pPr>
            <a:r>
              <a:rPr dirty="0" sz="2200" spc="-100">
                <a:solidFill>
                  <a:srgbClr val="4B4B4B"/>
                </a:solidFill>
                <a:latin typeface="Arial MT"/>
                <a:cs typeface="Arial MT"/>
              </a:rPr>
              <a:t>Maintain</a:t>
            </a:r>
            <a:r>
              <a:rPr dirty="0" sz="2200" spc="-7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64646"/>
                </a:solidFill>
                <a:latin typeface="Arial MT"/>
                <a:cs typeface="Arial MT"/>
              </a:rPr>
              <a:t>parity</a:t>
            </a:r>
            <a:r>
              <a:rPr dirty="0" sz="2200" spc="-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627C91"/>
                </a:solidFill>
                <a:latin typeface="Arial MT"/>
                <a:cs typeface="Arial MT"/>
              </a:rPr>
              <a:t>by</a:t>
            </a:r>
            <a:r>
              <a:rPr dirty="0" sz="2200" spc="-114">
                <a:solidFill>
                  <a:srgbClr val="627C91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64646"/>
                </a:solidFill>
                <a:latin typeface="Arial MT"/>
                <a:cs typeface="Arial MT"/>
              </a:rPr>
              <a:t>keeping</a:t>
            </a:r>
            <a:r>
              <a:rPr dirty="0" sz="2200" spc="-1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F4F4F"/>
                </a:solidFill>
                <a:latin typeface="Arial MT"/>
                <a:cs typeface="Arial MT"/>
              </a:rPr>
              <a:t>identical</a:t>
            </a:r>
            <a:r>
              <a:rPr dirty="0" sz="2200" spc="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64646"/>
                </a:solidFill>
                <a:latin typeface="Arial MT"/>
                <a:cs typeface="Arial MT"/>
              </a:rPr>
              <a:t>settings</a:t>
            </a:r>
            <a:r>
              <a:rPr dirty="0" sz="2200" spc="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8390A1"/>
                </a:solidFill>
                <a:latin typeface="Arial MT"/>
                <a:cs typeface="Arial MT"/>
              </a:rPr>
              <a:t>to</a:t>
            </a:r>
            <a:r>
              <a:rPr dirty="0" sz="2200" spc="-245">
                <a:solidFill>
                  <a:srgbClr val="8390A1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3F3F3F"/>
                </a:solidFill>
                <a:latin typeface="Arial MT"/>
                <a:cs typeface="Arial MT"/>
              </a:rPr>
              <a:t>Server-</a:t>
            </a:r>
            <a:r>
              <a:rPr dirty="0" sz="2200" spc="-25">
                <a:solidFill>
                  <a:srgbClr val="3F3F3F"/>
                </a:solidFill>
                <a:latin typeface="Arial MT"/>
                <a:cs typeface="Arial MT"/>
              </a:rPr>
              <a:t>1.</a:t>
            </a:r>
            <a:endParaRPr sz="2200">
              <a:latin typeface="Arial MT"/>
              <a:cs typeface="Arial MT"/>
            </a:endParaRPr>
          </a:p>
          <a:p>
            <a:pPr marL="333375" indent="-280670">
              <a:lnSpc>
                <a:spcPct val="100000"/>
              </a:lnSpc>
              <a:spcBef>
                <a:spcPts val="1565"/>
              </a:spcBef>
              <a:buClr>
                <a:srgbClr val="46546B"/>
              </a:buClr>
              <a:buChar char="•"/>
              <a:tabLst>
                <a:tab pos="333375" algn="l"/>
              </a:tabLst>
            </a:pPr>
            <a:r>
              <a:rPr dirty="0" sz="2200" spc="-120">
                <a:solidFill>
                  <a:srgbClr val="484848"/>
                </a:solidFill>
                <a:latin typeface="Arial MT"/>
                <a:cs typeface="Arial MT"/>
              </a:rPr>
              <a:t>Verify</a:t>
            </a:r>
            <a:r>
              <a:rPr dirty="0" sz="2200" spc="-10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44444"/>
                </a:solidFill>
                <a:latin typeface="Arial MT"/>
                <a:cs typeface="Arial MT"/>
              </a:rPr>
              <a:t>Amazon</a:t>
            </a:r>
            <a:r>
              <a:rPr dirty="0" sz="2200" spc="-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3F3F3F"/>
                </a:solidFill>
                <a:latin typeface="Arial MT"/>
                <a:cs typeface="Arial MT"/>
              </a:rPr>
              <a:t>Linux</a:t>
            </a:r>
            <a:r>
              <a:rPr dirty="0" sz="2200" spc="-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44444"/>
                </a:solidFill>
                <a:latin typeface="Arial MT"/>
                <a:cs typeface="Arial MT"/>
              </a:rPr>
              <a:t>2023</a:t>
            </a:r>
            <a:r>
              <a:rPr dirty="0" sz="2200" spc="-8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229">
                <a:solidFill>
                  <a:srgbClr val="545454"/>
                </a:solidFill>
                <a:latin typeface="Arial MT"/>
                <a:cs typeface="Arial MT"/>
              </a:rPr>
              <a:t>and</a:t>
            </a:r>
            <a:r>
              <a:rPr dirty="0" sz="2200" spc="-4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24242"/>
                </a:solidFill>
                <a:latin typeface="Arial MT"/>
                <a:cs typeface="Arial MT"/>
              </a:rPr>
              <a:t>t3.micro</a:t>
            </a:r>
            <a:r>
              <a:rPr dirty="0" sz="2200" spc="1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464646"/>
                </a:solidFill>
                <a:latin typeface="Arial MT"/>
                <a:cs typeface="Arial MT"/>
              </a:rPr>
              <a:t>specifications</a:t>
            </a:r>
            <a:r>
              <a:rPr dirty="0" sz="2200" spc="-2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425672"/>
                </a:solidFill>
                <a:latin typeface="Arial MT"/>
                <a:cs typeface="Arial MT"/>
              </a:rPr>
              <a:t>in</a:t>
            </a:r>
            <a:r>
              <a:rPr dirty="0" sz="2200" spc="-195">
                <a:solidFill>
                  <a:srgbClr val="425672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3D3D3D"/>
                </a:solidFill>
                <a:latin typeface="Arial MT"/>
                <a:cs typeface="Arial MT"/>
              </a:rPr>
              <a:t>1000150105.png.</a:t>
            </a:r>
            <a:endParaRPr sz="2200">
              <a:latin typeface="Arial MT"/>
              <a:cs typeface="Arial MT"/>
            </a:endParaRPr>
          </a:p>
          <a:p>
            <a:pPr marL="335915" indent="-283210">
              <a:lnSpc>
                <a:spcPct val="100000"/>
              </a:lnSpc>
              <a:spcBef>
                <a:spcPts val="1440"/>
              </a:spcBef>
              <a:buClr>
                <a:srgbClr val="49546D"/>
              </a:buClr>
              <a:buChar char="•"/>
              <a:tabLst>
                <a:tab pos="335915" algn="l"/>
              </a:tabLst>
            </a:pPr>
            <a:r>
              <a:rPr dirty="0" sz="2200" spc="-195">
                <a:solidFill>
                  <a:srgbClr val="4D4D4D"/>
                </a:solidFill>
                <a:latin typeface="Arial MT"/>
                <a:cs typeface="Arial MT"/>
              </a:rPr>
              <a:t>This</a:t>
            </a:r>
            <a:r>
              <a:rPr dirty="0" sz="2200" spc="-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10">
                <a:solidFill>
                  <a:srgbClr val="3B3B3B"/>
                </a:solidFill>
                <a:latin typeface="Arial MT"/>
                <a:cs typeface="Arial MT"/>
              </a:rPr>
              <a:t>ensures</a:t>
            </a:r>
            <a:r>
              <a:rPr dirty="0" sz="2200" spc="2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44444"/>
                </a:solidFill>
                <a:latin typeface="Arial MT"/>
                <a:cs typeface="Arial MT"/>
              </a:rPr>
              <a:t>identical</a:t>
            </a:r>
            <a:r>
              <a:rPr dirty="0" sz="2200" spc="-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3F3F3F"/>
                </a:solidFill>
                <a:latin typeface="Arial MT"/>
                <a:cs typeface="Arial MT"/>
              </a:rPr>
              <a:t>performance</a:t>
            </a:r>
            <a:r>
              <a:rPr dirty="0" sz="220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160">
                <a:solidFill>
                  <a:srgbClr val="484848"/>
                </a:solidFill>
                <a:latin typeface="Arial MT"/>
                <a:cs typeface="Arial MT"/>
              </a:rPr>
              <a:t>capacity</a:t>
            </a:r>
            <a:r>
              <a:rPr dirty="0" sz="2200" spc="-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4D4D4D"/>
                </a:solidFill>
                <a:latin typeface="Arial MT"/>
                <a:cs typeface="Arial MT"/>
              </a:rPr>
              <a:t>under</a:t>
            </a:r>
            <a:r>
              <a:rPr dirty="0" sz="2200" spc="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7C90AE"/>
                </a:solidFill>
                <a:latin typeface="Arial MT"/>
                <a:cs typeface="Arial MT"/>
              </a:rPr>
              <a:t>load</a:t>
            </a:r>
            <a:r>
              <a:rPr dirty="0" sz="2200">
                <a:solidFill>
                  <a:srgbClr val="7C90AE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4D4D4D"/>
                </a:solidFill>
                <a:latin typeface="Arial MT"/>
                <a:cs typeface="Arial MT"/>
              </a:rPr>
              <a:t>balancing</a:t>
            </a:r>
            <a:r>
              <a:rPr dirty="0" sz="2200" spc="-1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3F3F3F"/>
                </a:solidFill>
                <a:latin typeface="Arial MT"/>
                <a:cs typeface="Arial MT"/>
              </a:rPr>
              <a:t>conditions.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Step</a:t>
            </a:r>
            <a:r>
              <a:rPr dirty="0" spc="-229"/>
              <a:t> </a:t>
            </a:r>
            <a:r>
              <a:rPr dirty="0" spc="-114"/>
              <a:t>5:</a:t>
            </a:r>
            <a:r>
              <a:rPr dirty="0" spc="-880"/>
              <a:t> </a:t>
            </a:r>
            <a:r>
              <a:rPr dirty="0" spc="-155">
                <a:solidFill>
                  <a:srgbClr val="131313"/>
                </a:solidFill>
              </a:rPr>
              <a:t>Server-</a:t>
            </a:r>
            <a:r>
              <a:rPr dirty="0" spc="-180">
                <a:solidFill>
                  <a:srgbClr val="131313"/>
                </a:solidFill>
              </a:rPr>
              <a:t>2</a:t>
            </a:r>
            <a:r>
              <a:rPr dirty="0" spc="-415">
                <a:solidFill>
                  <a:srgbClr val="131313"/>
                </a:solidFill>
              </a:rPr>
              <a:t> </a:t>
            </a:r>
            <a:r>
              <a:rPr dirty="0" spc="-114">
                <a:solidFill>
                  <a:srgbClr val="131313"/>
                </a:solidFill>
              </a:rPr>
              <a:t>Provisioned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3158" y="3818989"/>
            <a:ext cx="3235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85DE4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285DE4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2159E6"/>
                </a:solidFill>
                <a:latin typeface="Arial MT"/>
                <a:cs typeface="Arial MT"/>
              </a:rPr>
              <a:t>HAS</a:t>
            </a:r>
            <a:r>
              <a:rPr dirty="0" sz="1650" spc="-245">
                <a:solidFill>
                  <a:srgbClr val="2159E6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1C5BE2"/>
                </a:solidFill>
                <a:latin typeface="Arial MT"/>
                <a:cs typeface="Arial MT"/>
              </a:rPr>
              <a:t>E</a:t>
            </a:r>
            <a:r>
              <a:rPr dirty="0" sz="1650" spc="235">
                <a:solidFill>
                  <a:srgbClr val="1C5BE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D75F6"/>
                </a:solidFill>
                <a:latin typeface="Arial MT"/>
                <a:cs typeface="Arial MT"/>
              </a:rPr>
              <a:t>2</a:t>
            </a:r>
            <a:r>
              <a:rPr dirty="0" sz="1650">
                <a:solidFill>
                  <a:srgbClr val="2F5BC8"/>
                </a:solidFill>
                <a:latin typeface="Arial MT"/>
                <a:cs typeface="Arial MT"/>
              </a:rPr>
              <a:t>:</a:t>
            </a:r>
            <a:r>
              <a:rPr dirty="0" sz="1650" spc="325">
                <a:solidFill>
                  <a:srgbClr val="2F5BC8"/>
                </a:solidFill>
                <a:latin typeface="Arial MT"/>
                <a:cs typeface="Arial MT"/>
              </a:rPr>
              <a:t> </a:t>
            </a:r>
            <a:r>
              <a:rPr dirty="0" sz="1650" spc="-180">
                <a:solidFill>
                  <a:srgbClr val="2F64CA"/>
                </a:solidFill>
                <a:latin typeface="Arial MT"/>
                <a:cs typeface="Arial MT"/>
              </a:rPr>
              <a:t>T</a:t>
            </a:r>
            <a:r>
              <a:rPr dirty="0" sz="1650" spc="-30">
                <a:solidFill>
                  <a:srgbClr val="2F64CA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246EFB"/>
                </a:solidFill>
                <a:latin typeface="Arial MT"/>
                <a:cs typeface="Arial MT"/>
              </a:rPr>
              <a:t>ARG</a:t>
            </a:r>
            <a:r>
              <a:rPr dirty="0" sz="1650" spc="-235">
                <a:solidFill>
                  <a:srgbClr val="246EF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65DFD"/>
                </a:solidFill>
                <a:latin typeface="Arial MT"/>
                <a:cs typeface="Arial MT"/>
              </a:rPr>
              <a:t>ET</a:t>
            </a:r>
            <a:r>
              <a:rPr dirty="0" sz="1650" spc="390">
                <a:solidFill>
                  <a:srgbClr val="265DFD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159EB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2159EB"/>
                </a:solidFill>
                <a:latin typeface="Arial MT"/>
                <a:cs typeface="Arial MT"/>
              </a:rPr>
              <a:t> </a:t>
            </a:r>
            <a:r>
              <a:rPr dirty="0" sz="1650" spc="-370">
                <a:solidFill>
                  <a:srgbClr val="2A6ED6"/>
                </a:solidFill>
                <a:latin typeface="Arial MT"/>
                <a:cs typeface="Arial MT"/>
              </a:rPr>
              <a:t>R</a:t>
            </a:r>
            <a:r>
              <a:rPr dirty="0" sz="1650" spc="-170">
                <a:solidFill>
                  <a:srgbClr val="2A6ED6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1C5BDD"/>
                </a:solidFill>
                <a:latin typeface="Arial MT"/>
                <a:cs typeface="Arial MT"/>
              </a:rPr>
              <a:t>EAT</a:t>
            </a:r>
            <a:r>
              <a:rPr dirty="0" sz="1650" spc="-80">
                <a:solidFill>
                  <a:srgbClr val="1C5BD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459DB"/>
                </a:solidFill>
                <a:latin typeface="Arial MT"/>
                <a:cs typeface="Arial MT"/>
              </a:rPr>
              <a:t>IO</a:t>
            </a:r>
            <a:r>
              <a:rPr dirty="0" sz="1650" spc="-150">
                <a:solidFill>
                  <a:srgbClr val="3459DB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16BD4"/>
                </a:solidFill>
                <a:latin typeface="Arial MT"/>
                <a:cs typeface="Arial MT"/>
              </a:rPr>
              <a:t>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7747" y="4455750"/>
            <a:ext cx="8350884" cy="392937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150">
                <a:solidFill>
                  <a:srgbClr val="0F0F0F"/>
                </a:solidFill>
                <a:latin typeface="Arial MT"/>
                <a:cs typeface="Arial MT"/>
              </a:rPr>
              <a:t>Server-</a:t>
            </a:r>
            <a:r>
              <a:rPr dirty="0" sz="3100" spc="185">
                <a:solidFill>
                  <a:srgbClr val="0F0F0F"/>
                </a:solidFill>
                <a:latin typeface="Arial MT"/>
                <a:cs typeface="Arial MT"/>
              </a:rPr>
              <a:t>2</a:t>
            </a:r>
            <a:r>
              <a:rPr dirty="0" sz="3100" spc="-1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100" spc="140">
                <a:solidFill>
                  <a:srgbClr val="080808"/>
                </a:solidFill>
                <a:latin typeface="Arial MT"/>
                <a:cs typeface="Arial MT"/>
              </a:rPr>
              <a:t>Successfully</a:t>
            </a:r>
            <a:r>
              <a:rPr dirty="0" sz="3100" spc="5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3100" spc="225">
                <a:solidFill>
                  <a:srgbClr val="131313"/>
                </a:solidFill>
                <a:latin typeface="Arial MT"/>
                <a:cs typeface="Arial MT"/>
              </a:rPr>
              <a:t>Initiated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</a:pPr>
            <a:r>
              <a:rPr dirty="0" sz="2200" spc="-24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200" spc="-1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4B4B4B"/>
                </a:solidFill>
                <a:latin typeface="Arial MT"/>
                <a:cs typeface="Arial MT"/>
              </a:rPr>
              <a:t>secondary</a:t>
            </a:r>
            <a:r>
              <a:rPr dirty="0" sz="2200" spc="-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444444"/>
                </a:solidFill>
                <a:latin typeface="Arial MT"/>
                <a:cs typeface="Arial MT"/>
              </a:rPr>
              <a:t>server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D4D4D"/>
                </a:solidFill>
                <a:latin typeface="Arial MT"/>
                <a:cs typeface="Arial MT"/>
              </a:rPr>
              <a:t>launch</a:t>
            </a:r>
            <a:r>
              <a:rPr dirty="0" sz="22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545454"/>
                </a:solidFill>
                <a:latin typeface="Arial MT"/>
                <a:cs typeface="Arial MT"/>
              </a:rPr>
              <a:t>is</a:t>
            </a:r>
            <a:r>
              <a:rPr dirty="0" sz="2200" spc="-12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 spc="-160">
                <a:solidFill>
                  <a:srgbClr val="4D4D4D"/>
                </a:solidFill>
                <a:latin typeface="Arial MT"/>
                <a:cs typeface="Arial MT"/>
              </a:rPr>
              <a:t>completed</a:t>
            </a:r>
            <a:r>
              <a:rPr dirty="0" sz="2200" spc="10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29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2200" spc="-9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D4D4D"/>
                </a:solidFill>
                <a:latin typeface="Arial MT"/>
                <a:cs typeface="Arial MT"/>
              </a:rPr>
              <a:t>ready</a:t>
            </a:r>
            <a:r>
              <a:rPr dirty="0" sz="2200" spc="-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D4D4D"/>
                </a:solidFill>
                <a:latin typeface="Arial MT"/>
                <a:cs typeface="Arial MT"/>
              </a:rPr>
              <a:t>for</a:t>
            </a:r>
            <a:r>
              <a:rPr dirty="0" sz="2200" spc="-1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3B3B3B"/>
                </a:solidFill>
                <a:latin typeface="Arial MT"/>
                <a:cs typeface="Arial MT"/>
              </a:rPr>
              <a:t>registration.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Arial MT"/>
              <a:cs typeface="Arial MT"/>
            </a:endParaRPr>
          </a:p>
          <a:p>
            <a:pPr marL="334010" indent="-287655">
              <a:lnSpc>
                <a:spcPct val="100000"/>
              </a:lnSpc>
              <a:buClr>
                <a:srgbClr val="49576E"/>
              </a:buClr>
              <a:buChar char="•"/>
              <a:tabLst>
                <a:tab pos="334010" algn="l"/>
              </a:tabLst>
            </a:pPr>
            <a:r>
              <a:rPr dirty="0" sz="2200" spc="-165">
                <a:solidFill>
                  <a:srgbClr val="494949"/>
                </a:solidFill>
                <a:latin typeface="Arial MT"/>
                <a:cs typeface="Arial MT"/>
              </a:rPr>
              <a:t>Instance</a:t>
            </a:r>
            <a:r>
              <a:rPr dirty="0" sz="2200" spc="-7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64646"/>
                </a:solidFill>
                <a:latin typeface="Arial MT"/>
                <a:cs typeface="Arial MT"/>
              </a:rPr>
              <a:t>initialization</a:t>
            </a:r>
            <a:r>
              <a:rPr dirty="0" sz="2200" spc="-10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494949"/>
                </a:solidFill>
                <a:latin typeface="Arial MT"/>
                <a:cs typeface="Arial MT"/>
              </a:rPr>
              <a:t>successfully</a:t>
            </a:r>
            <a:r>
              <a:rPr dirty="0" sz="2200" spc="-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3A3A3A"/>
                </a:solidFill>
                <a:latin typeface="Arial MT"/>
                <a:cs typeface="Arial MT"/>
              </a:rPr>
              <a:t>completes.</a:t>
            </a:r>
            <a:endParaRPr sz="2200">
              <a:latin typeface="Arial MT"/>
              <a:cs typeface="Arial MT"/>
            </a:endParaRPr>
          </a:p>
          <a:p>
            <a:pPr marL="329565" marR="5080" indent="-283210">
              <a:lnSpc>
                <a:spcPct val="121800"/>
              </a:lnSpc>
              <a:spcBef>
                <a:spcPts val="865"/>
              </a:spcBef>
              <a:buChar char="•"/>
              <a:tabLst>
                <a:tab pos="329565" algn="l"/>
                <a:tab pos="334010" algn="l"/>
              </a:tabLst>
            </a:pPr>
            <a:r>
              <a:rPr dirty="0" sz="2200">
                <a:solidFill>
                  <a:srgbClr val="465269"/>
                </a:solidFill>
                <a:latin typeface="Arial MT"/>
                <a:cs typeface="Arial MT"/>
              </a:rPr>
              <a:t>	</a:t>
            </a:r>
            <a:r>
              <a:rPr dirty="0" sz="2200" spc="-17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r>
              <a:rPr dirty="0" sz="2200" spc="-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64646"/>
                </a:solidFill>
                <a:latin typeface="Arial MT"/>
                <a:cs typeface="Arial MT"/>
              </a:rPr>
              <a:t>ID</a:t>
            </a:r>
            <a:r>
              <a:rPr dirty="0" sz="2200" spc="-229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44444"/>
                </a:solidFill>
                <a:latin typeface="Arial MT"/>
                <a:cs typeface="Arial MT"/>
              </a:rPr>
              <a:t>i-</a:t>
            </a:r>
            <a:r>
              <a:rPr dirty="0" sz="2200" spc="-120">
                <a:solidFill>
                  <a:srgbClr val="444444"/>
                </a:solidFill>
                <a:latin typeface="Arial MT"/>
                <a:cs typeface="Arial MT"/>
              </a:rPr>
              <a:t>03a92f72ac7e0635e</a:t>
            </a:r>
            <a:r>
              <a:rPr dirty="0" sz="2200" spc="-28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B4B4B"/>
                </a:solidFill>
                <a:latin typeface="Arial MT"/>
                <a:cs typeface="Arial MT"/>
              </a:rPr>
              <a:t>is</a:t>
            </a:r>
            <a:r>
              <a:rPr dirty="0" sz="2200" spc="-8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94949"/>
                </a:solidFill>
                <a:latin typeface="Arial MT"/>
                <a:cs typeface="Arial MT"/>
              </a:rPr>
              <a:t>successfully</a:t>
            </a:r>
            <a:r>
              <a:rPr dirty="0" sz="2200" spc="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4F4F4F"/>
                </a:solidFill>
                <a:latin typeface="Arial MT"/>
                <a:cs typeface="Arial MT"/>
              </a:rPr>
              <a:t>generated</a:t>
            </a:r>
            <a:r>
              <a:rPr dirty="0" sz="2200" spc="16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330">
                <a:solidFill>
                  <a:srgbClr val="4B4B4B"/>
                </a:solidFill>
                <a:latin typeface="Arial MT"/>
                <a:cs typeface="Arial MT"/>
              </a:rPr>
              <a:t>as</a:t>
            </a:r>
            <a:r>
              <a:rPr dirty="0" sz="2200" spc="-1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D4D4D"/>
                </a:solidFill>
                <a:latin typeface="Arial MT"/>
                <a:cs typeface="Arial MT"/>
              </a:rPr>
              <a:t>captured</a:t>
            </a:r>
            <a:r>
              <a:rPr dirty="0" sz="2200" spc="-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829CB8"/>
                </a:solidFill>
                <a:latin typeface="Arial MT"/>
                <a:cs typeface="Arial MT"/>
              </a:rPr>
              <a:t>in </a:t>
            </a:r>
            <a:r>
              <a:rPr dirty="0" sz="2200" spc="-70">
                <a:solidFill>
                  <a:srgbClr val="464646"/>
                </a:solidFill>
                <a:latin typeface="Arial MT"/>
                <a:cs typeface="Arial MT"/>
              </a:rPr>
              <a:t>1000150106.png.</a:t>
            </a:r>
            <a:endParaRPr sz="2200">
              <a:latin typeface="Arial MT"/>
              <a:cs typeface="Arial MT"/>
            </a:endParaRPr>
          </a:p>
          <a:p>
            <a:pPr marL="331470" indent="-285115">
              <a:lnSpc>
                <a:spcPct val="100000"/>
              </a:lnSpc>
              <a:spcBef>
                <a:spcPts val="1445"/>
              </a:spcBef>
              <a:buClr>
                <a:srgbClr val="445666"/>
              </a:buClr>
              <a:buChar char="•"/>
              <a:tabLst>
                <a:tab pos="331470" algn="l"/>
              </a:tabLst>
            </a:pPr>
            <a:r>
              <a:rPr dirty="0" sz="2200" spc="-125">
                <a:solidFill>
                  <a:srgbClr val="576B85"/>
                </a:solidFill>
                <a:latin typeface="Arial MT"/>
                <a:cs typeface="Arial MT"/>
              </a:rPr>
              <a:t>Both</a:t>
            </a:r>
            <a:r>
              <a:rPr dirty="0" sz="2200" spc="-160">
                <a:solidFill>
                  <a:srgbClr val="576B85"/>
                </a:solidFill>
                <a:latin typeface="Arial MT"/>
                <a:cs typeface="Arial MT"/>
              </a:rPr>
              <a:t> </a:t>
            </a:r>
            <a:r>
              <a:rPr dirty="0" sz="2200" spc="-215">
                <a:solidFill>
                  <a:srgbClr val="4D4D4D"/>
                </a:solidFill>
                <a:latin typeface="Arial MT"/>
                <a:cs typeface="Arial MT"/>
              </a:rPr>
              <a:t>machines</a:t>
            </a:r>
            <a:r>
              <a:rPr dirty="0" sz="2200" spc="1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526280"/>
                </a:solidFill>
                <a:latin typeface="Arial MT"/>
                <a:cs typeface="Arial MT"/>
              </a:rPr>
              <a:t>are</a:t>
            </a:r>
            <a:r>
              <a:rPr dirty="0" sz="2200" spc="-195">
                <a:solidFill>
                  <a:srgbClr val="526280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3F5972"/>
                </a:solidFill>
                <a:latin typeface="Arial MT"/>
                <a:cs typeface="Arial MT"/>
              </a:rPr>
              <a:t>now</a:t>
            </a:r>
            <a:r>
              <a:rPr dirty="0" sz="2200" spc="-155">
                <a:solidFill>
                  <a:srgbClr val="3F5972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484848"/>
                </a:solidFill>
                <a:latin typeface="Arial MT"/>
                <a:cs typeface="Arial MT"/>
              </a:rPr>
              <a:t>deployed</a:t>
            </a:r>
            <a:r>
              <a:rPr dirty="0" sz="2200" spc="-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15477"/>
                </a:solidFill>
                <a:latin typeface="Arial MT"/>
                <a:cs typeface="Arial MT"/>
              </a:rPr>
              <a:t>inside</a:t>
            </a:r>
            <a:r>
              <a:rPr dirty="0" sz="2200" spc="-80">
                <a:solidFill>
                  <a:srgbClr val="415477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dirty="0" sz="2200" spc="-18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525252"/>
                </a:solidFill>
                <a:latin typeface="Arial MT"/>
                <a:cs typeface="Arial MT"/>
              </a:rPr>
              <a:t>default</a:t>
            </a:r>
            <a:r>
              <a:rPr dirty="0" sz="2200" spc="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505050"/>
                </a:solidFill>
                <a:latin typeface="Arial MT"/>
                <a:cs typeface="Arial MT"/>
              </a:rPr>
              <a:t>VPC.</a:t>
            </a:r>
            <a:endParaRPr sz="2200">
              <a:latin typeface="Arial MT"/>
              <a:cs typeface="Arial MT"/>
            </a:endParaRPr>
          </a:p>
          <a:p>
            <a:pPr marL="330835" indent="-284480">
              <a:lnSpc>
                <a:spcPct val="100000"/>
              </a:lnSpc>
              <a:spcBef>
                <a:spcPts val="1565"/>
              </a:spcBef>
              <a:buClr>
                <a:srgbClr val="445262"/>
              </a:buClr>
              <a:buChar char="•"/>
              <a:tabLst>
                <a:tab pos="330835" algn="l"/>
              </a:tabLst>
            </a:pPr>
            <a:r>
              <a:rPr dirty="0" sz="2200" spc="-160">
                <a:solidFill>
                  <a:srgbClr val="444444"/>
                </a:solidFill>
                <a:latin typeface="Arial MT"/>
                <a:cs typeface="Arial MT"/>
              </a:rPr>
              <a:t>Now,</a:t>
            </a:r>
            <a:r>
              <a:rPr dirty="0" sz="2200" spc="-1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235">
                <a:solidFill>
                  <a:srgbClr val="494949"/>
                </a:solidFill>
                <a:latin typeface="Arial MT"/>
                <a:cs typeface="Arial MT"/>
              </a:rPr>
              <a:t>we</a:t>
            </a:r>
            <a:r>
              <a:rPr dirty="0" sz="2200" spc="-1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65B70"/>
                </a:solidFill>
                <a:latin typeface="Arial MT"/>
                <a:cs typeface="Arial MT"/>
              </a:rPr>
              <a:t>are</a:t>
            </a:r>
            <a:r>
              <a:rPr dirty="0" sz="2200" spc="-185">
                <a:solidFill>
                  <a:srgbClr val="465B70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84848"/>
                </a:solidFill>
                <a:latin typeface="Arial MT"/>
                <a:cs typeface="Arial MT"/>
              </a:rPr>
              <a:t>ready</a:t>
            </a:r>
            <a:r>
              <a:rPr dirty="0" sz="2200" spc="-6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65677"/>
                </a:solidFill>
                <a:latin typeface="Arial MT"/>
                <a:cs typeface="Arial MT"/>
              </a:rPr>
              <a:t>to</a:t>
            </a:r>
            <a:r>
              <a:rPr dirty="0" sz="2200" spc="-240">
                <a:solidFill>
                  <a:srgbClr val="465677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444444"/>
                </a:solidFill>
                <a:latin typeface="Arial MT"/>
                <a:cs typeface="Arial MT"/>
              </a:rPr>
              <a:t>proceed</a:t>
            </a:r>
            <a:r>
              <a:rPr dirty="0" sz="2200" spc="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525252"/>
                </a:solidFill>
                <a:latin typeface="Arial MT"/>
                <a:cs typeface="Arial MT"/>
              </a:rPr>
              <a:t>with</a:t>
            </a:r>
            <a:r>
              <a:rPr dirty="0" sz="2200" spc="-1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4D4D69"/>
                </a:solidFill>
                <a:latin typeface="Arial MT"/>
                <a:cs typeface="Arial MT"/>
              </a:rPr>
              <a:t>load</a:t>
            </a:r>
            <a:r>
              <a:rPr dirty="0" sz="2200" spc="-20">
                <a:solidFill>
                  <a:srgbClr val="4D4D69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F4F4F"/>
                </a:solidFill>
                <a:latin typeface="Arial MT"/>
                <a:cs typeface="Arial MT"/>
              </a:rPr>
              <a:t>balancer</a:t>
            </a:r>
            <a:r>
              <a:rPr dirty="0" sz="2200" spc="-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B4B4B"/>
                </a:solidFill>
                <a:latin typeface="Arial MT"/>
                <a:cs typeface="Arial MT"/>
              </a:rPr>
              <a:t>configuration.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dirty="0" sz="5000" spc="-215"/>
              <a:t>Step</a:t>
            </a:r>
            <a:r>
              <a:rPr dirty="0" sz="5000" spc="-254"/>
              <a:t> </a:t>
            </a:r>
            <a:r>
              <a:rPr dirty="0" sz="5000" spc="-475">
                <a:solidFill>
                  <a:srgbClr val="181818"/>
                </a:solidFill>
              </a:rPr>
              <a:t>6:</a:t>
            </a:r>
            <a:r>
              <a:rPr dirty="0" sz="5000" spc="-475">
                <a:solidFill>
                  <a:srgbClr val="1A1A1A"/>
                </a:solidFill>
              </a:rPr>
              <a:t>ELB</a:t>
            </a:r>
            <a:r>
              <a:rPr dirty="0" sz="5000" spc="-385">
                <a:solidFill>
                  <a:srgbClr val="1A1A1A"/>
                </a:solidFill>
              </a:rPr>
              <a:t> </a:t>
            </a:r>
            <a:r>
              <a:rPr dirty="0" sz="5000" spc="-65">
                <a:solidFill>
                  <a:srgbClr val="151515"/>
                </a:solidFill>
              </a:rPr>
              <a:t>Dashboard</a:t>
            </a:r>
            <a:r>
              <a:rPr dirty="0" sz="5000" spc="-315">
                <a:solidFill>
                  <a:srgbClr val="151515"/>
                </a:solidFill>
              </a:rPr>
              <a:t> </a:t>
            </a:r>
            <a:r>
              <a:rPr dirty="0" sz="5000" spc="-25">
                <a:solidFill>
                  <a:srgbClr val="131313"/>
                </a:solidFill>
              </a:rPr>
              <a:t>Overview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1133158" y="4085997"/>
            <a:ext cx="3843654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1A62D6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1A62D6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179DF"/>
                </a:solidFill>
                <a:latin typeface="Arial MT"/>
                <a:cs typeface="Arial MT"/>
              </a:rPr>
              <a:t>HAS</a:t>
            </a:r>
            <a:r>
              <a:rPr dirty="0" sz="1650" spc="-240">
                <a:solidFill>
                  <a:srgbClr val="3179D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4F2"/>
                </a:solidFill>
                <a:latin typeface="Arial MT"/>
                <a:cs typeface="Arial MT"/>
              </a:rPr>
              <a:t>E</a:t>
            </a:r>
            <a:r>
              <a:rPr dirty="0" sz="1650" spc="280">
                <a:solidFill>
                  <a:srgbClr val="2664F2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3F72EF"/>
                </a:solidFill>
                <a:latin typeface="Arial MT"/>
                <a:cs typeface="Arial MT"/>
              </a:rPr>
              <a:t>3</a:t>
            </a:r>
            <a:r>
              <a:rPr dirty="0" sz="1650" spc="-290">
                <a:solidFill>
                  <a:srgbClr val="3F72E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64BA"/>
                </a:solidFill>
                <a:latin typeface="Arial MT"/>
                <a:cs typeface="Arial MT"/>
              </a:rPr>
              <a:t>:</a:t>
            </a:r>
            <a:r>
              <a:rPr dirty="0" sz="1650" spc="320">
                <a:solidFill>
                  <a:srgbClr val="4D64BA"/>
                </a:solidFill>
                <a:latin typeface="Arial MT"/>
                <a:cs typeface="Arial MT"/>
              </a:rPr>
              <a:t> </a:t>
            </a:r>
            <a:r>
              <a:rPr dirty="0" sz="1650" spc="-140">
                <a:solidFill>
                  <a:srgbClr val="2864F0"/>
                </a:solidFill>
                <a:latin typeface="Arial MT"/>
                <a:cs typeface="Arial MT"/>
              </a:rPr>
              <a:t>B</a:t>
            </a:r>
            <a:r>
              <a:rPr dirty="0" sz="1650" spc="-130">
                <a:solidFill>
                  <a:srgbClr val="2864F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86BE6"/>
                </a:solidFill>
                <a:latin typeface="Arial MT"/>
                <a:cs typeface="Arial MT"/>
              </a:rPr>
              <a:t>ALAN</a:t>
            </a:r>
            <a:r>
              <a:rPr dirty="0" sz="1650" spc="-220">
                <a:solidFill>
                  <a:srgbClr val="186BE6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1F62E2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1F62E2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0F69FD"/>
                </a:solidFill>
                <a:latin typeface="Arial MT"/>
                <a:cs typeface="Arial MT"/>
              </a:rPr>
              <a:t>E</a:t>
            </a:r>
            <a:r>
              <a:rPr dirty="0" sz="1650" spc="-220">
                <a:solidFill>
                  <a:srgbClr val="0F69FD"/>
                </a:solidFill>
                <a:latin typeface="Arial MT"/>
                <a:cs typeface="Arial MT"/>
              </a:rPr>
              <a:t> </a:t>
            </a:r>
            <a:r>
              <a:rPr dirty="0" sz="1650" spc="-300">
                <a:solidFill>
                  <a:srgbClr val="2D64D8"/>
                </a:solidFill>
                <a:latin typeface="Arial MT"/>
                <a:cs typeface="Arial MT"/>
              </a:rPr>
              <a:t>R</a:t>
            </a:r>
            <a:r>
              <a:rPr dirty="0" sz="1650" spc="265">
                <a:solidFill>
                  <a:srgbClr val="2D64D8"/>
                </a:solidFill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2A64F0"/>
                </a:solidFill>
                <a:latin typeface="Arial MT"/>
                <a:cs typeface="Arial MT"/>
              </a:rPr>
              <a:t>D</a:t>
            </a:r>
            <a:r>
              <a:rPr dirty="0" sz="1650" spc="-210">
                <a:solidFill>
                  <a:srgbClr val="2A64F0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0F69FD"/>
                </a:solidFill>
                <a:latin typeface="Arial MT"/>
                <a:cs typeface="Arial MT"/>
              </a:rPr>
              <a:t>E</a:t>
            </a:r>
            <a:r>
              <a:rPr dirty="0" sz="1650" spc="-210">
                <a:solidFill>
                  <a:srgbClr val="0F69FD"/>
                </a:solidFill>
                <a:latin typeface="Arial MT"/>
                <a:cs typeface="Arial MT"/>
              </a:rPr>
              <a:t> </a:t>
            </a:r>
            <a:r>
              <a:rPr dirty="0" sz="1650" spc="-220">
                <a:solidFill>
                  <a:srgbClr val="185BC3"/>
                </a:solidFill>
                <a:latin typeface="Arial MT"/>
                <a:cs typeface="Arial MT"/>
              </a:rPr>
              <a:t>P</a:t>
            </a:r>
            <a:r>
              <a:rPr dirty="0" sz="1650" spc="-225">
                <a:solidFill>
                  <a:srgbClr val="185BC3"/>
                </a:solidFill>
                <a:latin typeface="Arial MT"/>
                <a:cs typeface="Arial MT"/>
              </a:rPr>
              <a:t> </a:t>
            </a:r>
            <a:r>
              <a:rPr dirty="0" sz="1650" spc="-114">
                <a:solidFill>
                  <a:srgbClr val="2367FF"/>
                </a:solidFill>
                <a:latin typeface="Arial MT"/>
                <a:cs typeface="Arial MT"/>
              </a:rPr>
              <a:t>LO</a:t>
            </a:r>
            <a:r>
              <a:rPr dirty="0" sz="1650" spc="-35">
                <a:solidFill>
                  <a:srgbClr val="2367FF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2F62D4"/>
                </a:solidFill>
                <a:latin typeface="Arial MT"/>
                <a:cs typeface="Arial MT"/>
              </a:rPr>
              <a:t>YM</a:t>
            </a:r>
            <a:r>
              <a:rPr dirty="0" sz="1650" spc="-240">
                <a:solidFill>
                  <a:srgbClr val="2F62D4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A64EF"/>
                </a:solidFill>
                <a:latin typeface="Arial MT"/>
                <a:cs typeface="Arial MT"/>
              </a:rPr>
              <a:t>E</a:t>
            </a:r>
            <a:r>
              <a:rPr dirty="0" sz="1650" spc="-215">
                <a:solidFill>
                  <a:srgbClr val="2A64EF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F69D6"/>
                </a:solidFill>
                <a:latin typeface="Arial MT"/>
                <a:cs typeface="Arial MT"/>
              </a:rPr>
              <a:t>N</a:t>
            </a:r>
            <a:r>
              <a:rPr dirty="0" sz="1650" spc="-229">
                <a:solidFill>
                  <a:srgbClr val="2F69D6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65ECC"/>
                </a:solidFill>
                <a:latin typeface="Arial MT"/>
                <a:cs typeface="Arial MT"/>
              </a:rPr>
              <a:t>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590" y="4673675"/>
            <a:ext cx="66065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60">
                <a:solidFill>
                  <a:srgbClr val="111111"/>
                </a:solidFill>
                <a:latin typeface="Arial MT"/>
                <a:cs typeface="Arial MT"/>
              </a:rPr>
              <a:t>Navigate</a:t>
            </a:r>
            <a:r>
              <a:rPr dirty="0" sz="345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450" spc="11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3450" spc="-2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450" spc="-65">
                <a:solidFill>
                  <a:srgbClr val="0E0E0E"/>
                </a:solidFill>
                <a:latin typeface="Arial MT"/>
                <a:cs typeface="Arial MT"/>
              </a:rPr>
              <a:t>Load</a:t>
            </a:r>
            <a:r>
              <a:rPr dirty="0" sz="3450" spc="-15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0F0F0F"/>
                </a:solidFill>
                <a:latin typeface="Arial MT"/>
                <a:cs typeface="Arial MT"/>
              </a:rPr>
              <a:t>Balancing</a:t>
            </a:r>
            <a:r>
              <a:rPr dirty="0" sz="34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450" spc="-20">
                <a:solidFill>
                  <a:srgbClr val="151515"/>
                </a:solidFill>
                <a:latin typeface="Arial MT"/>
                <a:cs typeface="Arial MT"/>
              </a:rPr>
              <a:t>Menu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285" y="5654012"/>
            <a:ext cx="9466580" cy="24644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90">
                <a:solidFill>
                  <a:srgbClr val="495970"/>
                </a:solidFill>
                <a:latin typeface="Arial MT"/>
                <a:cs typeface="Arial MT"/>
              </a:rPr>
              <a:t>We</a:t>
            </a:r>
            <a:r>
              <a:rPr dirty="0" sz="2200" spc="-200">
                <a:solidFill>
                  <a:srgbClr val="495970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D4D4D"/>
                </a:solidFill>
                <a:latin typeface="Arial MT"/>
                <a:cs typeface="Arial MT"/>
              </a:rPr>
              <a:t>open</a:t>
            </a:r>
            <a:r>
              <a:rPr dirty="0" sz="2200" spc="-9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200" spc="-12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4B4B4B"/>
                </a:solidFill>
                <a:latin typeface="Arial MT"/>
                <a:cs typeface="Arial MT"/>
              </a:rPr>
              <a:t>load</a:t>
            </a:r>
            <a:r>
              <a:rPr dirty="0" sz="2200" spc="-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B4B4B"/>
                </a:solidFill>
                <a:latin typeface="Arial MT"/>
                <a:cs typeface="Arial MT"/>
              </a:rPr>
              <a:t>balancer</a:t>
            </a:r>
            <a:r>
              <a:rPr dirty="0" sz="2200" spc="-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B4B4B"/>
                </a:solidFill>
                <a:latin typeface="Arial MT"/>
                <a:cs typeface="Arial MT"/>
              </a:rPr>
              <a:t>deployment</a:t>
            </a:r>
            <a:r>
              <a:rPr dirty="0" sz="2200" spc="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F4F4F"/>
                </a:solidFill>
                <a:latin typeface="Arial MT"/>
                <a:cs typeface="Arial MT"/>
              </a:rPr>
              <a:t>control</a:t>
            </a:r>
            <a:r>
              <a:rPr dirty="0" sz="2200" spc="-1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64646"/>
                </a:solidFill>
                <a:latin typeface="Arial MT"/>
                <a:cs typeface="Arial MT"/>
              </a:rPr>
              <a:t>panel</a:t>
            </a:r>
            <a:r>
              <a:rPr dirty="0" sz="2200" spc="-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F4F4F"/>
                </a:solidFill>
                <a:latin typeface="Arial MT"/>
                <a:cs typeface="Arial MT"/>
              </a:rPr>
              <a:t>inside</a:t>
            </a:r>
            <a:r>
              <a:rPr dirty="0" sz="2200" spc="-9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24242"/>
                </a:solidFill>
                <a:latin typeface="Arial MT"/>
                <a:cs typeface="Arial MT"/>
              </a:rPr>
              <a:t>the</a:t>
            </a:r>
            <a:r>
              <a:rPr dirty="0" sz="2200" spc="-16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275">
                <a:solidFill>
                  <a:srgbClr val="414141"/>
                </a:solidFill>
                <a:latin typeface="Arial MT"/>
                <a:cs typeface="Arial MT"/>
              </a:rPr>
              <a:t>EC2</a:t>
            </a:r>
            <a:r>
              <a:rPr dirty="0" sz="2200" spc="-16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D4D4D"/>
                </a:solidFill>
                <a:latin typeface="Arial MT"/>
                <a:cs typeface="Arial MT"/>
              </a:rPr>
              <a:t>interface.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Arial MT"/>
              <a:cs typeface="Arial MT"/>
            </a:endParaRPr>
          </a:p>
          <a:p>
            <a:pPr marL="331470" indent="-283210">
              <a:lnSpc>
                <a:spcPct val="100000"/>
              </a:lnSpc>
              <a:spcBef>
                <a:spcPts val="5"/>
              </a:spcBef>
              <a:buClr>
                <a:srgbClr val="3D4B5B"/>
              </a:buClr>
              <a:buChar char="•"/>
              <a:tabLst>
                <a:tab pos="331470" algn="l"/>
              </a:tabLst>
            </a:pPr>
            <a:r>
              <a:rPr dirty="0" sz="2200" spc="-165">
                <a:solidFill>
                  <a:srgbClr val="505050"/>
                </a:solidFill>
                <a:latin typeface="Arial MT"/>
                <a:cs typeface="Arial MT"/>
              </a:rPr>
              <a:t>Under</a:t>
            </a:r>
            <a:r>
              <a:rPr dirty="0" sz="2200" spc="-1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dirty="0" sz="2200" spc="-21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505050"/>
                </a:solidFill>
                <a:latin typeface="Arial MT"/>
                <a:cs typeface="Arial MT"/>
              </a:rPr>
              <a:t>Network</a:t>
            </a:r>
            <a:r>
              <a:rPr dirty="0" sz="2200" spc="-4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445262"/>
                </a:solidFill>
                <a:latin typeface="Arial MT"/>
                <a:cs typeface="Arial MT"/>
              </a:rPr>
              <a:t>&amp;</a:t>
            </a:r>
            <a:r>
              <a:rPr dirty="0" sz="2200" spc="-290">
                <a:solidFill>
                  <a:srgbClr val="445262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64646"/>
                </a:solidFill>
                <a:latin typeface="Arial MT"/>
                <a:cs typeface="Arial MT"/>
              </a:rPr>
              <a:t>Security</a:t>
            </a:r>
            <a:r>
              <a:rPr dirty="0" sz="2200" spc="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444444"/>
                </a:solidFill>
                <a:latin typeface="Arial MT"/>
                <a:cs typeface="Arial MT"/>
              </a:rPr>
              <a:t>sidebar,</a:t>
            </a:r>
            <a:r>
              <a:rPr dirty="0" sz="2200" spc="-1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464646"/>
                </a:solidFill>
                <a:latin typeface="Arial MT"/>
                <a:cs typeface="Arial MT"/>
              </a:rPr>
              <a:t>click</a:t>
            </a:r>
            <a:r>
              <a:rPr dirty="0" sz="2200" spc="-1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505050"/>
                </a:solidFill>
                <a:latin typeface="Arial MT"/>
                <a:cs typeface="Arial MT"/>
              </a:rPr>
              <a:t>on</a:t>
            </a:r>
            <a:r>
              <a:rPr dirty="0" sz="2200" spc="-21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494949"/>
                </a:solidFill>
                <a:latin typeface="Arial MT"/>
                <a:cs typeface="Arial MT"/>
              </a:rPr>
              <a:t>Load</a:t>
            </a:r>
            <a:r>
              <a:rPr dirty="0" sz="2200" spc="-1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343434"/>
                </a:solidFill>
                <a:latin typeface="Arial MT"/>
                <a:cs typeface="Arial MT"/>
              </a:rPr>
              <a:t>Balancers.</a:t>
            </a:r>
            <a:endParaRPr sz="2200">
              <a:latin typeface="Arial MT"/>
              <a:cs typeface="Arial MT"/>
            </a:endParaRPr>
          </a:p>
          <a:p>
            <a:pPr marL="337820" indent="-289560">
              <a:lnSpc>
                <a:spcPct val="100000"/>
              </a:lnSpc>
              <a:spcBef>
                <a:spcPts val="1440"/>
              </a:spcBef>
              <a:buClr>
                <a:srgbClr val="425262"/>
              </a:buClr>
              <a:buChar char="•"/>
              <a:tabLst>
                <a:tab pos="337820" algn="l"/>
              </a:tabLst>
            </a:pPr>
            <a:r>
              <a:rPr dirty="0" sz="2200" spc="-260">
                <a:solidFill>
                  <a:srgbClr val="444444"/>
                </a:solidFill>
                <a:latin typeface="Arial MT"/>
                <a:cs typeface="Arial MT"/>
              </a:rPr>
              <a:t>As</a:t>
            </a:r>
            <a:r>
              <a:rPr dirty="0" sz="2200" spc="-145">
                <a:solidFill>
                  <a:srgbClr val="444444"/>
                </a:solidFill>
                <a:latin typeface="Arial MT"/>
                <a:cs typeface="Arial MT"/>
              </a:rPr>
              <a:t> demonstrated</a:t>
            </a:r>
            <a:r>
              <a:rPr dirty="0" sz="2200" spc="19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3F4F67"/>
                </a:solidFill>
                <a:latin typeface="Arial MT"/>
                <a:cs typeface="Arial MT"/>
              </a:rPr>
              <a:t>in</a:t>
            </a:r>
            <a:r>
              <a:rPr dirty="0" sz="2200" spc="-180">
                <a:solidFill>
                  <a:srgbClr val="3F4F67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94949"/>
                </a:solidFill>
                <a:latin typeface="Arial MT"/>
                <a:cs typeface="Arial MT"/>
              </a:rPr>
              <a:t>1000150107.png,</a:t>
            </a:r>
            <a:r>
              <a:rPr dirty="0" sz="2200" spc="-3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444444"/>
                </a:solidFill>
                <a:latin typeface="Arial MT"/>
                <a:cs typeface="Arial MT"/>
              </a:rPr>
              <a:t>there</a:t>
            </a:r>
            <a:r>
              <a:rPr dirty="0" sz="2200" spc="-10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65D6E"/>
                </a:solidFill>
                <a:latin typeface="Arial MT"/>
                <a:cs typeface="Arial MT"/>
              </a:rPr>
              <a:t>are</a:t>
            </a:r>
            <a:r>
              <a:rPr dirty="0" sz="2200" spc="-195">
                <a:solidFill>
                  <a:srgbClr val="465D6E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5B6B82"/>
                </a:solidFill>
                <a:latin typeface="Arial MT"/>
                <a:cs typeface="Arial MT"/>
              </a:rPr>
              <a:t>no</a:t>
            </a:r>
            <a:r>
              <a:rPr dirty="0" sz="2200" spc="-180">
                <a:solidFill>
                  <a:srgbClr val="5B6B82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505050"/>
                </a:solidFill>
                <a:latin typeface="Arial MT"/>
                <a:cs typeface="Arial MT"/>
              </a:rPr>
              <a:t>existing</a:t>
            </a:r>
            <a:r>
              <a:rPr dirty="0" sz="2200" spc="-16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F4F4F"/>
                </a:solidFill>
                <a:latin typeface="Arial MT"/>
                <a:cs typeface="Arial MT"/>
              </a:rPr>
              <a:t>load</a:t>
            </a:r>
            <a:r>
              <a:rPr dirty="0" sz="2200" spc="-10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3F3F3F"/>
                </a:solidFill>
                <a:latin typeface="Arial MT"/>
                <a:cs typeface="Arial MT"/>
              </a:rPr>
              <a:t>balancers.</a:t>
            </a:r>
            <a:endParaRPr sz="2200">
              <a:latin typeface="Arial MT"/>
              <a:cs typeface="Arial MT"/>
            </a:endParaRPr>
          </a:p>
          <a:p>
            <a:pPr marL="328930" marR="5080" indent="-281305">
              <a:lnSpc>
                <a:spcPct val="117100"/>
              </a:lnSpc>
              <a:spcBef>
                <a:spcPts val="1115"/>
              </a:spcBef>
              <a:buChar char="•"/>
              <a:tabLst>
                <a:tab pos="328930" algn="l"/>
                <a:tab pos="331470" algn="l"/>
              </a:tabLst>
            </a:pPr>
            <a:r>
              <a:rPr dirty="0" sz="2200">
                <a:solidFill>
                  <a:srgbClr val="445666"/>
                </a:solidFill>
                <a:latin typeface="Arial MT"/>
                <a:cs typeface="Arial MT"/>
              </a:rPr>
              <a:t>	</a:t>
            </a:r>
            <a:r>
              <a:rPr dirty="0" sz="2200" spc="-150">
                <a:solidFill>
                  <a:srgbClr val="494949"/>
                </a:solidFill>
                <a:latin typeface="Arial MT"/>
                <a:cs typeface="Arial MT"/>
              </a:rPr>
              <a:t>Click</a:t>
            </a:r>
            <a:r>
              <a:rPr dirty="0" sz="2200" spc="-10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D607C"/>
                </a:solidFill>
                <a:latin typeface="Arial MT"/>
                <a:cs typeface="Arial MT"/>
              </a:rPr>
              <a:t>the</a:t>
            </a:r>
            <a:r>
              <a:rPr dirty="0" sz="2200" spc="-200">
                <a:solidFill>
                  <a:srgbClr val="4D607C"/>
                </a:solidFill>
                <a:latin typeface="Arial MT"/>
                <a:cs typeface="Arial MT"/>
              </a:rPr>
              <a:t> </a:t>
            </a:r>
            <a:r>
              <a:rPr dirty="0" sz="2200" spc="-195">
                <a:solidFill>
                  <a:srgbClr val="484848"/>
                </a:solidFill>
                <a:latin typeface="Arial MT"/>
                <a:cs typeface="Arial MT"/>
              </a:rPr>
              <a:t>orange</a:t>
            </a:r>
            <a:r>
              <a:rPr dirty="0" sz="2200" spc="-5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44444"/>
                </a:solidFill>
                <a:latin typeface="Arial MT"/>
                <a:cs typeface="Arial MT"/>
              </a:rPr>
              <a:t>"Create</a:t>
            </a:r>
            <a:r>
              <a:rPr dirty="0" sz="220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3D5267"/>
                </a:solidFill>
                <a:latin typeface="Arial MT"/>
                <a:cs typeface="Arial MT"/>
              </a:rPr>
              <a:t>load</a:t>
            </a:r>
            <a:r>
              <a:rPr dirty="0" sz="2200" spc="-195">
                <a:solidFill>
                  <a:srgbClr val="3D5267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444444"/>
                </a:solidFill>
                <a:latin typeface="Arial MT"/>
                <a:cs typeface="Arial MT"/>
              </a:rPr>
              <a:t>balancer"</a:t>
            </a:r>
            <a:r>
              <a:rPr dirty="0" sz="2200" spc="114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25270"/>
                </a:solidFill>
                <a:latin typeface="Arial MT"/>
                <a:cs typeface="Arial MT"/>
              </a:rPr>
              <a:t>button</a:t>
            </a:r>
            <a:r>
              <a:rPr dirty="0" sz="2200" spc="-135">
                <a:solidFill>
                  <a:srgbClr val="425270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41505D"/>
                </a:solidFill>
                <a:latin typeface="Arial MT"/>
                <a:cs typeface="Arial MT"/>
              </a:rPr>
              <a:t>on</a:t>
            </a:r>
            <a:r>
              <a:rPr dirty="0" sz="2200" spc="-170">
                <a:solidFill>
                  <a:srgbClr val="41505D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200" spc="-16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D4D4D"/>
                </a:solidFill>
                <a:latin typeface="Arial MT"/>
                <a:cs typeface="Arial MT"/>
              </a:rPr>
              <a:t>top-</a:t>
            </a:r>
            <a:r>
              <a:rPr dirty="0" sz="2200" spc="-40">
                <a:solidFill>
                  <a:srgbClr val="4D4D4D"/>
                </a:solidFill>
                <a:latin typeface="Arial MT"/>
                <a:cs typeface="Arial MT"/>
              </a:rPr>
              <a:t>right</a:t>
            </a:r>
            <a:r>
              <a:rPr dirty="0" sz="2200" spc="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89A5B1"/>
                </a:solidFill>
                <a:latin typeface="Arial MT"/>
                <a:cs typeface="Arial MT"/>
              </a:rPr>
              <a:t>to</a:t>
            </a:r>
            <a:r>
              <a:rPr dirty="0" sz="2200" spc="-245">
                <a:solidFill>
                  <a:srgbClr val="89A5B1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6607C"/>
                </a:solidFill>
                <a:latin typeface="Arial MT"/>
                <a:cs typeface="Arial MT"/>
              </a:rPr>
              <a:t>open</a:t>
            </a:r>
            <a:r>
              <a:rPr dirty="0" sz="2200" spc="-114">
                <a:solidFill>
                  <a:srgbClr val="46607C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dirty="0" sz="2200" spc="-2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4D4D4D"/>
                </a:solidFill>
                <a:latin typeface="Arial MT"/>
                <a:cs typeface="Arial MT"/>
              </a:rPr>
              <a:t>creation </a:t>
            </a:r>
            <a:r>
              <a:rPr dirty="0" sz="2200" spc="-10">
                <a:solidFill>
                  <a:srgbClr val="383838"/>
                </a:solidFill>
                <a:latin typeface="Arial MT"/>
                <a:cs typeface="Arial MT"/>
              </a:rPr>
              <a:t>wizard.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dirty="0" sz="5000" spc="-215"/>
              <a:t>Step</a:t>
            </a:r>
            <a:r>
              <a:rPr dirty="0" sz="5000" spc="-459"/>
              <a:t> </a:t>
            </a:r>
            <a:r>
              <a:rPr dirty="0" sz="5000" spc="-254">
                <a:solidFill>
                  <a:srgbClr val="1A1A1A"/>
                </a:solidFill>
              </a:rPr>
              <a:t>7:</a:t>
            </a:r>
            <a:r>
              <a:rPr dirty="0" sz="5000" spc="-885">
                <a:solidFill>
                  <a:srgbClr val="1A1A1A"/>
                </a:solidFill>
              </a:rPr>
              <a:t> </a:t>
            </a:r>
            <a:r>
              <a:rPr dirty="0" sz="5000" spc="-155">
                <a:solidFill>
                  <a:srgbClr val="0F0F0F"/>
                </a:solidFill>
              </a:rPr>
              <a:t>Choose</a:t>
            </a:r>
            <a:r>
              <a:rPr dirty="0" sz="5000" spc="-400">
                <a:solidFill>
                  <a:srgbClr val="0F0F0F"/>
                </a:solidFill>
              </a:rPr>
              <a:t> </a:t>
            </a:r>
            <a:r>
              <a:rPr dirty="0" sz="5000" spc="-30">
                <a:solidFill>
                  <a:srgbClr val="0C0C0C"/>
                </a:solidFill>
              </a:rPr>
              <a:t>Classic</a:t>
            </a:r>
            <a:r>
              <a:rPr dirty="0" sz="5000" spc="-200">
                <a:solidFill>
                  <a:srgbClr val="0C0C0C"/>
                </a:solidFill>
              </a:rPr>
              <a:t> </a:t>
            </a:r>
            <a:r>
              <a:rPr dirty="0" sz="5000" spc="-204">
                <a:solidFill>
                  <a:srgbClr val="1A1A1A"/>
                </a:solidFill>
              </a:rPr>
              <a:t>Load</a:t>
            </a:r>
            <a:r>
              <a:rPr dirty="0" sz="5000" spc="-530">
                <a:solidFill>
                  <a:srgbClr val="1A1A1A"/>
                </a:solidFill>
              </a:rPr>
              <a:t> </a:t>
            </a:r>
            <a:r>
              <a:rPr dirty="0" sz="5000" spc="-35">
                <a:solidFill>
                  <a:srgbClr val="181818"/>
                </a:solidFill>
              </a:rPr>
              <a:t>Balancer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1133158" y="4023171"/>
            <a:ext cx="3843654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35DDA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235DDA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472FF"/>
                </a:solidFill>
                <a:latin typeface="Arial MT"/>
                <a:cs typeface="Arial MT"/>
              </a:rPr>
              <a:t>HAS</a:t>
            </a:r>
            <a:r>
              <a:rPr dirty="0" sz="1650" spc="-240">
                <a:solidFill>
                  <a:srgbClr val="3472F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2F4"/>
                </a:solidFill>
                <a:latin typeface="Arial MT"/>
                <a:cs typeface="Arial MT"/>
              </a:rPr>
              <a:t>E</a:t>
            </a:r>
            <a:r>
              <a:rPr dirty="0" sz="1650" spc="280">
                <a:solidFill>
                  <a:srgbClr val="2662F4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3477F9"/>
                </a:solidFill>
                <a:latin typeface="Arial MT"/>
                <a:cs typeface="Arial MT"/>
              </a:rPr>
              <a:t>3</a:t>
            </a:r>
            <a:r>
              <a:rPr dirty="0" sz="1650" spc="-290">
                <a:solidFill>
                  <a:srgbClr val="3477F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A66E2"/>
                </a:solidFill>
                <a:latin typeface="Arial MT"/>
                <a:cs typeface="Arial MT"/>
              </a:rPr>
              <a:t>:</a:t>
            </a:r>
            <a:r>
              <a:rPr dirty="0" sz="1650" spc="320">
                <a:solidFill>
                  <a:srgbClr val="3A66E2"/>
                </a:solidFill>
                <a:latin typeface="Arial MT"/>
                <a:cs typeface="Arial MT"/>
              </a:rPr>
              <a:t> </a:t>
            </a:r>
            <a:r>
              <a:rPr dirty="0" sz="1650" spc="-140">
                <a:solidFill>
                  <a:srgbClr val="3360ED"/>
                </a:solidFill>
                <a:latin typeface="Arial MT"/>
                <a:cs typeface="Arial MT"/>
              </a:rPr>
              <a:t>B</a:t>
            </a:r>
            <a:r>
              <a:rPr dirty="0" sz="1650" spc="-130">
                <a:solidFill>
                  <a:srgbClr val="3360E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A5DE4"/>
                </a:solidFill>
                <a:latin typeface="Arial MT"/>
                <a:cs typeface="Arial MT"/>
              </a:rPr>
              <a:t>ALAN</a:t>
            </a:r>
            <a:r>
              <a:rPr dirty="0" sz="1650" spc="-220">
                <a:solidFill>
                  <a:srgbClr val="2A5DE4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B5DD6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2B5DD6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1C64ED"/>
                </a:solidFill>
                <a:latin typeface="Arial MT"/>
                <a:cs typeface="Arial MT"/>
              </a:rPr>
              <a:t>E</a:t>
            </a:r>
            <a:r>
              <a:rPr dirty="0" sz="1650" spc="-220">
                <a:solidFill>
                  <a:srgbClr val="1C64ED"/>
                </a:solidFill>
                <a:latin typeface="Arial MT"/>
                <a:cs typeface="Arial MT"/>
              </a:rPr>
              <a:t> </a:t>
            </a:r>
            <a:r>
              <a:rPr dirty="0" sz="1650" spc="-300">
                <a:solidFill>
                  <a:srgbClr val="136BF2"/>
                </a:solidFill>
                <a:latin typeface="Arial MT"/>
                <a:cs typeface="Arial MT"/>
              </a:rPr>
              <a:t>R</a:t>
            </a:r>
            <a:r>
              <a:rPr dirty="0" sz="1650" spc="265">
                <a:solidFill>
                  <a:srgbClr val="136BF2"/>
                </a:solidFill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3360EF"/>
                </a:solidFill>
                <a:latin typeface="Arial MT"/>
                <a:cs typeface="Arial MT"/>
              </a:rPr>
              <a:t>D</a:t>
            </a:r>
            <a:r>
              <a:rPr dirty="0" sz="1650" spc="-210">
                <a:solidFill>
                  <a:srgbClr val="3360E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1C64ED"/>
                </a:solidFill>
                <a:latin typeface="Arial MT"/>
                <a:cs typeface="Arial MT"/>
              </a:rPr>
              <a:t>E</a:t>
            </a:r>
            <a:r>
              <a:rPr dirty="0" sz="1650" spc="-210">
                <a:solidFill>
                  <a:srgbClr val="1C64ED"/>
                </a:solidFill>
                <a:latin typeface="Arial MT"/>
                <a:cs typeface="Arial MT"/>
              </a:rPr>
              <a:t> </a:t>
            </a:r>
            <a:r>
              <a:rPr dirty="0" sz="1650" spc="-220">
                <a:solidFill>
                  <a:srgbClr val="1C52E8"/>
                </a:solidFill>
                <a:latin typeface="Arial MT"/>
                <a:cs typeface="Arial MT"/>
              </a:rPr>
              <a:t>P</a:t>
            </a:r>
            <a:r>
              <a:rPr dirty="0" sz="1650" spc="-225">
                <a:solidFill>
                  <a:srgbClr val="1C52E8"/>
                </a:solidFill>
                <a:latin typeface="Arial MT"/>
                <a:cs typeface="Arial MT"/>
              </a:rPr>
              <a:t> </a:t>
            </a:r>
            <a:r>
              <a:rPr dirty="0" sz="1650" spc="-114">
                <a:solidFill>
                  <a:srgbClr val="2864FF"/>
                </a:solidFill>
                <a:latin typeface="Arial MT"/>
                <a:cs typeface="Arial MT"/>
              </a:rPr>
              <a:t>LO</a:t>
            </a:r>
            <a:r>
              <a:rPr dirty="0" sz="1650" spc="-35">
                <a:solidFill>
                  <a:srgbClr val="2864FF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3B56F2"/>
                </a:solidFill>
                <a:latin typeface="Arial MT"/>
                <a:cs typeface="Arial MT"/>
              </a:rPr>
              <a:t>YM</a:t>
            </a:r>
            <a:r>
              <a:rPr dirty="0" sz="1650" spc="-240">
                <a:solidFill>
                  <a:srgbClr val="3B56F2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867E8"/>
                </a:solidFill>
                <a:latin typeface="Arial MT"/>
                <a:cs typeface="Arial MT"/>
              </a:rPr>
              <a:t>E</a:t>
            </a:r>
            <a:r>
              <a:rPr dirty="0" sz="1650" spc="-215">
                <a:solidFill>
                  <a:srgbClr val="2867E8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669EB"/>
                </a:solidFill>
                <a:latin typeface="Arial MT"/>
                <a:cs typeface="Arial MT"/>
              </a:rPr>
              <a:t>N</a:t>
            </a:r>
            <a:r>
              <a:rPr dirty="0" sz="1650" spc="-229">
                <a:solidFill>
                  <a:srgbClr val="2669EB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85DD1"/>
                </a:solidFill>
                <a:latin typeface="Arial MT"/>
                <a:cs typeface="Arial MT"/>
              </a:rPr>
              <a:t>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541" y="4610850"/>
            <a:ext cx="462915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70">
                <a:solidFill>
                  <a:srgbClr val="0E0E0E"/>
                </a:solidFill>
                <a:latin typeface="Arial MT"/>
                <a:cs typeface="Arial MT"/>
              </a:rPr>
              <a:t>Select</a:t>
            </a:r>
            <a:r>
              <a:rPr dirty="0" sz="3450" spc="-1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450" spc="-55">
                <a:solidFill>
                  <a:srgbClr val="131313"/>
                </a:solidFill>
                <a:latin typeface="Arial MT"/>
                <a:cs typeface="Arial MT"/>
              </a:rPr>
              <a:t>Previous</a:t>
            </a:r>
            <a:r>
              <a:rPr dirty="0" sz="3450" spc="-19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450" spc="-120">
                <a:solidFill>
                  <a:srgbClr val="0E0E0E"/>
                </a:solidFill>
                <a:latin typeface="Arial MT"/>
                <a:cs typeface="Arial MT"/>
              </a:rPr>
              <a:t>Gen</a:t>
            </a:r>
            <a:r>
              <a:rPr dirty="0" sz="3450" spc="-37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450" spc="-455">
                <a:solidFill>
                  <a:srgbClr val="0F0F0F"/>
                </a:solidFill>
                <a:latin typeface="Arial MT"/>
                <a:cs typeface="Arial MT"/>
              </a:rPr>
              <a:t>CLB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4138" y="5591187"/>
            <a:ext cx="9463405" cy="2589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25">
                <a:solidFill>
                  <a:srgbClr val="495B69"/>
                </a:solidFill>
                <a:latin typeface="Arial MT"/>
                <a:cs typeface="Arial MT"/>
              </a:rPr>
              <a:t>We</a:t>
            </a:r>
            <a:r>
              <a:rPr dirty="0" sz="2200" spc="-210">
                <a:solidFill>
                  <a:srgbClr val="495B69"/>
                </a:solidFill>
                <a:latin typeface="Arial MT"/>
                <a:cs typeface="Arial MT"/>
              </a:rPr>
              <a:t> </a:t>
            </a:r>
            <a:r>
              <a:rPr dirty="0" sz="2200" spc="-215">
                <a:solidFill>
                  <a:srgbClr val="4F4F4F"/>
                </a:solidFill>
                <a:latin typeface="Arial MT"/>
                <a:cs typeface="Arial MT"/>
              </a:rPr>
              <a:t>choose</a:t>
            </a:r>
            <a:r>
              <a:rPr dirty="0" sz="22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200" spc="-1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505050"/>
                </a:solidFill>
                <a:latin typeface="Arial MT"/>
                <a:cs typeface="Arial MT"/>
              </a:rPr>
              <a:t>appropriate</a:t>
            </a:r>
            <a:r>
              <a:rPr dirty="0" sz="2200" spc="7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7290B1"/>
                </a:solidFill>
                <a:latin typeface="Arial MT"/>
                <a:cs typeface="Arial MT"/>
              </a:rPr>
              <a:t>load</a:t>
            </a:r>
            <a:r>
              <a:rPr dirty="0" sz="2200" spc="-25">
                <a:solidFill>
                  <a:srgbClr val="7290B1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64646"/>
                </a:solidFill>
                <a:latin typeface="Arial MT"/>
                <a:cs typeface="Arial MT"/>
              </a:rPr>
              <a:t>balancer</a:t>
            </a:r>
            <a:r>
              <a:rPr dirty="0" sz="2200" spc="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64646"/>
                </a:solidFill>
                <a:latin typeface="Arial MT"/>
                <a:cs typeface="Arial MT"/>
              </a:rPr>
              <a:t>type</a:t>
            </a:r>
            <a:r>
              <a:rPr dirty="0" sz="2200" spc="-15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4D4D4D"/>
                </a:solidFill>
                <a:latin typeface="Arial MT"/>
                <a:cs typeface="Arial MT"/>
              </a:rPr>
              <a:t>tailored</a:t>
            </a:r>
            <a:r>
              <a:rPr dirty="0" sz="2200" spc="-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45069"/>
                </a:solidFill>
                <a:latin typeface="Arial MT"/>
                <a:cs typeface="Arial MT"/>
              </a:rPr>
              <a:t>for</a:t>
            </a:r>
            <a:r>
              <a:rPr dirty="0" sz="2200" spc="-150">
                <a:solidFill>
                  <a:srgbClr val="44506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95969"/>
                </a:solidFill>
                <a:latin typeface="Arial MT"/>
                <a:cs typeface="Arial MT"/>
              </a:rPr>
              <a:t>our</a:t>
            </a:r>
            <a:r>
              <a:rPr dirty="0" sz="2200" spc="-145">
                <a:solidFill>
                  <a:srgbClr val="495969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84848"/>
                </a:solidFill>
                <a:latin typeface="Arial MT"/>
                <a:cs typeface="Arial MT"/>
              </a:rPr>
              <a:t>project</a:t>
            </a:r>
            <a:r>
              <a:rPr dirty="0" sz="2200" spc="-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scope.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Arial MT"/>
              <a:cs typeface="Arial MT"/>
            </a:endParaRPr>
          </a:p>
          <a:p>
            <a:pPr marL="325120" indent="-285115">
              <a:lnSpc>
                <a:spcPct val="100000"/>
              </a:lnSpc>
              <a:spcBef>
                <a:spcPts val="5"/>
              </a:spcBef>
              <a:buClr>
                <a:srgbClr val="445464"/>
              </a:buClr>
              <a:buChar char="•"/>
              <a:tabLst>
                <a:tab pos="325120" algn="l"/>
              </a:tabLst>
            </a:pPr>
            <a:r>
              <a:rPr dirty="0" sz="2200" spc="-175">
                <a:solidFill>
                  <a:srgbClr val="4D4D4D"/>
                </a:solidFill>
                <a:latin typeface="Arial MT"/>
                <a:cs typeface="Arial MT"/>
              </a:rPr>
              <a:t>Scroll</a:t>
            </a:r>
            <a:r>
              <a:rPr dirty="0" sz="2200" spc="-1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484848"/>
                </a:solidFill>
                <a:latin typeface="Arial MT"/>
                <a:cs typeface="Arial MT"/>
              </a:rPr>
              <a:t>past</a:t>
            </a:r>
            <a:r>
              <a:rPr dirty="0" sz="2200" spc="-1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494949"/>
                </a:solidFill>
                <a:latin typeface="Arial MT"/>
                <a:cs typeface="Arial MT"/>
              </a:rPr>
              <a:t>Application,</a:t>
            </a:r>
            <a:r>
              <a:rPr dirty="0" sz="2200" spc="-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424242"/>
                </a:solidFill>
                <a:latin typeface="Arial MT"/>
                <a:cs typeface="Arial MT"/>
              </a:rPr>
              <a:t>Network,</a:t>
            </a:r>
            <a:r>
              <a:rPr dirty="0" sz="2200" spc="-13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229">
                <a:solidFill>
                  <a:srgbClr val="4D4D4D"/>
                </a:solidFill>
                <a:latin typeface="Arial MT"/>
                <a:cs typeface="Arial MT"/>
              </a:rPr>
              <a:t>and</a:t>
            </a:r>
            <a:r>
              <a:rPr dirty="0" sz="2200" spc="-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94949"/>
                </a:solidFill>
                <a:latin typeface="Arial MT"/>
                <a:cs typeface="Arial MT"/>
              </a:rPr>
              <a:t>Gateway</a:t>
            </a:r>
            <a:r>
              <a:rPr dirty="0" sz="2200" spc="-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options.</a:t>
            </a:r>
            <a:endParaRPr sz="2200">
              <a:latin typeface="Arial MT"/>
              <a:cs typeface="Arial MT"/>
            </a:endParaRPr>
          </a:p>
          <a:p>
            <a:pPr marL="325120" indent="-285115">
              <a:lnSpc>
                <a:spcPct val="100000"/>
              </a:lnSpc>
              <a:spcBef>
                <a:spcPts val="1440"/>
              </a:spcBef>
              <a:buClr>
                <a:srgbClr val="445262"/>
              </a:buClr>
              <a:buChar char="•"/>
              <a:tabLst>
                <a:tab pos="325120" algn="l"/>
              </a:tabLst>
            </a:pPr>
            <a:r>
              <a:rPr dirty="0" sz="2200" spc="-200">
                <a:solidFill>
                  <a:srgbClr val="4D4D4D"/>
                </a:solidFill>
                <a:latin typeface="Arial MT"/>
                <a:cs typeface="Arial MT"/>
              </a:rPr>
              <a:t>Locate</a:t>
            </a:r>
            <a:r>
              <a:rPr dirty="0" sz="2200" spc="-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505050"/>
                </a:solidFill>
                <a:latin typeface="Arial MT"/>
                <a:cs typeface="Arial MT"/>
              </a:rPr>
              <a:t>the</a:t>
            </a:r>
            <a:r>
              <a:rPr dirty="0" sz="2200" spc="-23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494949"/>
                </a:solidFill>
                <a:latin typeface="Arial MT"/>
                <a:cs typeface="Arial MT"/>
              </a:rPr>
              <a:t>Classic</a:t>
            </a:r>
            <a:r>
              <a:rPr dirty="0" sz="2200" spc="-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424242"/>
                </a:solidFill>
                <a:latin typeface="Arial MT"/>
                <a:cs typeface="Arial MT"/>
              </a:rPr>
              <a:t>Load</a:t>
            </a:r>
            <a:r>
              <a:rPr dirty="0" sz="2200" spc="-17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94949"/>
                </a:solidFill>
                <a:latin typeface="Arial MT"/>
                <a:cs typeface="Arial MT"/>
              </a:rPr>
              <a:t>Balancer</a:t>
            </a:r>
            <a:r>
              <a:rPr dirty="0" sz="2200" spc="1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50">
                <a:solidFill>
                  <a:srgbClr val="484848"/>
                </a:solidFill>
                <a:latin typeface="Arial MT"/>
                <a:cs typeface="Arial MT"/>
              </a:rPr>
              <a:t>-</a:t>
            </a:r>
            <a:r>
              <a:rPr dirty="0" sz="2200" spc="-16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3F3F3F"/>
                </a:solidFill>
                <a:latin typeface="Arial MT"/>
                <a:cs typeface="Arial MT"/>
              </a:rPr>
              <a:t>previous</a:t>
            </a:r>
            <a:r>
              <a:rPr dirty="0" sz="2200" spc="-1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3D3D3D"/>
                </a:solidFill>
                <a:latin typeface="Arial MT"/>
                <a:cs typeface="Arial MT"/>
              </a:rPr>
              <a:t>generation</a:t>
            </a:r>
            <a:r>
              <a:rPr dirty="0" sz="2200" spc="7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section.</a:t>
            </a:r>
            <a:endParaRPr sz="2200">
              <a:latin typeface="Arial MT"/>
              <a:cs typeface="Arial MT"/>
            </a:endParaRPr>
          </a:p>
          <a:p>
            <a:pPr marL="323850" indent="-283845">
              <a:lnSpc>
                <a:spcPct val="100000"/>
              </a:lnSpc>
              <a:spcBef>
                <a:spcPts val="1565"/>
              </a:spcBef>
              <a:buClr>
                <a:srgbClr val="46546B"/>
              </a:buClr>
              <a:buChar char="•"/>
              <a:tabLst>
                <a:tab pos="323850" algn="l"/>
              </a:tabLst>
            </a:pPr>
            <a:r>
              <a:rPr dirty="0" sz="2200" spc="-150">
                <a:solidFill>
                  <a:srgbClr val="4B6B7C"/>
                </a:solidFill>
                <a:latin typeface="Arial MT"/>
                <a:cs typeface="Arial MT"/>
              </a:rPr>
              <a:t>Click</a:t>
            </a:r>
            <a:r>
              <a:rPr dirty="0" sz="2200" spc="-110">
                <a:solidFill>
                  <a:srgbClr val="4B6B7C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200" spc="-1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44444"/>
                </a:solidFill>
                <a:latin typeface="Arial MT"/>
                <a:cs typeface="Arial MT"/>
              </a:rPr>
              <a:t>"Create"</a:t>
            </a:r>
            <a:r>
              <a:rPr dirty="0" sz="2200" spc="9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4D4D4D"/>
                </a:solidFill>
                <a:latin typeface="Arial MT"/>
                <a:cs typeface="Arial MT"/>
              </a:rPr>
              <a:t>button,</a:t>
            </a:r>
            <a:r>
              <a:rPr dirty="0" sz="2200" spc="-1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505050"/>
                </a:solidFill>
                <a:latin typeface="Arial MT"/>
                <a:cs typeface="Arial MT"/>
              </a:rPr>
              <a:t>shown</a:t>
            </a:r>
            <a:r>
              <a:rPr dirty="0" sz="2200" spc="-14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525252"/>
                </a:solidFill>
                <a:latin typeface="Arial MT"/>
                <a:cs typeface="Arial MT"/>
              </a:rPr>
              <a:t>in</a:t>
            </a:r>
            <a:r>
              <a:rPr dirty="0" sz="2200" spc="-22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3F3F3F"/>
                </a:solidFill>
                <a:latin typeface="Arial MT"/>
                <a:cs typeface="Arial MT"/>
              </a:rPr>
              <a:t>1000150108.png.</a:t>
            </a:r>
            <a:endParaRPr sz="2200">
              <a:latin typeface="Arial MT"/>
              <a:cs typeface="Arial MT"/>
            </a:endParaRPr>
          </a:p>
          <a:p>
            <a:pPr marL="323215" indent="-283210">
              <a:lnSpc>
                <a:spcPct val="100000"/>
              </a:lnSpc>
              <a:spcBef>
                <a:spcPts val="1440"/>
              </a:spcBef>
              <a:buClr>
                <a:srgbClr val="49546D"/>
              </a:buClr>
              <a:buChar char="•"/>
              <a:tabLst>
                <a:tab pos="323215" algn="l"/>
              </a:tabLst>
            </a:pPr>
            <a:r>
              <a:rPr dirty="0" sz="2200" spc="-195">
                <a:solidFill>
                  <a:srgbClr val="4D4D4D"/>
                </a:solidFill>
                <a:latin typeface="Arial MT"/>
                <a:cs typeface="Arial MT"/>
              </a:rPr>
              <a:t>This</a:t>
            </a:r>
            <a:r>
              <a:rPr dirty="0" sz="2200" spc="-1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424242"/>
                </a:solidFill>
                <a:latin typeface="Arial MT"/>
                <a:cs typeface="Arial MT"/>
              </a:rPr>
              <a:t>enables</a:t>
            </a:r>
            <a:r>
              <a:rPr dirty="0" sz="2200" spc="-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4F4F4F"/>
                </a:solidFill>
                <a:latin typeface="Arial MT"/>
                <a:cs typeface="Arial MT"/>
              </a:rPr>
              <a:t>protocol</a:t>
            </a:r>
            <a:r>
              <a:rPr dirty="0" sz="2200" spc="-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84848"/>
                </a:solidFill>
                <a:latin typeface="Arial MT"/>
                <a:cs typeface="Arial MT"/>
              </a:rPr>
              <a:t>mappings</a:t>
            </a: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F4F4F"/>
                </a:solidFill>
                <a:latin typeface="Arial MT"/>
                <a:cs typeface="Arial MT"/>
              </a:rPr>
              <a:t>for</a:t>
            </a:r>
            <a:r>
              <a:rPr dirty="0" sz="2200" spc="-1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484848"/>
                </a:solidFill>
                <a:latin typeface="Arial MT"/>
                <a:cs typeface="Arial MT"/>
              </a:rPr>
              <a:t>standard</a:t>
            </a:r>
            <a:r>
              <a:rPr dirty="0" sz="2200" spc="6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85">
                <a:solidFill>
                  <a:srgbClr val="464646"/>
                </a:solidFill>
                <a:latin typeface="Arial MT"/>
                <a:cs typeface="Arial MT"/>
              </a:rPr>
              <a:t>HTTP,</a:t>
            </a:r>
            <a:r>
              <a:rPr dirty="0" sz="2200" spc="-1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280">
                <a:solidFill>
                  <a:srgbClr val="3D3D3D"/>
                </a:solidFill>
                <a:latin typeface="Arial MT"/>
                <a:cs typeface="Arial MT"/>
              </a:rPr>
              <a:t>HTTPS,</a:t>
            </a:r>
            <a:r>
              <a:rPr dirty="0" sz="2200" spc="-13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-345">
                <a:solidFill>
                  <a:srgbClr val="4B4B4B"/>
                </a:solidFill>
                <a:latin typeface="Arial MT"/>
                <a:cs typeface="Arial MT"/>
              </a:rPr>
              <a:t>TCP,</a:t>
            </a:r>
            <a:r>
              <a:rPr dirty="0" sz="2200" spc="-1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29">
                <a:solidFill>
                  <a:srgbClr val="4D4D4D"/>
                </a:solidFill>
                <a:latin typeface="Arial MT"/>
                <a:cs typeface="Arial MT"/>
              </a:rPr>
              <a:t>and</a:t>
            </a:r>
            <a:r>
              <a:rPr dirty="0" sz="2200" spc="-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434">
                <a:solidFill>
                  <a:srgbClr val="64707C"/>
                </a:solidFill>
                <a:latin typeface="Arial MT"/>
                <a:cs typeface="Arial MT"/>
              </a:rPr>
              <a:t>SSL</a:t>
            </a:r>
            <a:r>
              <a:rPr dirty="0" sz="2200" spc="-204">
                <a:solidFill>
                  <a:srgbClr val="64707C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424242"/>
                </a:solidFill>
                <a:latin typeface="Arial MT"/>
                <a:cs typeface="Arial MT"/>
              </a:rPr>
              <a:t>connections.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Step</a:t>
            </a:r>
            <a:r>
              <a:rPr dirty="0" spc="-375"/>
              <a:t> </a:t>
            </a:r>
            <a:r>
              <a:rPr dirty="0" spc="-90"/>
              <a:t>8:</a:t>
            </a:r>
            <a:r>
              <a:rPr dirty="0" spc="-90">
                <a:solidFill>
                  <a:srgbClr val="151515"/>
                </a:solidFill>
              </a:rPr>
              <a:t>Register</a:t>
            </a:r>
            <a:r>
              <a:rPr dirty="0" spc="-140">
                <a:solidFill>
                  <a:srgbClr val="151515"/>
                </a:solidFill>
              </a:rPr>
              <a:t> </a:t>
            </a:r>
            <a:r>
              <a:rPr dirty="0" spc="-185">
                <a:solidFill>
                  <a:srgbClr val="1A1A1A"/>
                </a:solidFill>
              </a:rPr>
              <a:t>Target</a:t>
            </a:r>
            <a:r>
              <a:rPr dirty="0" spc="-290">
                <a:solidFill>
                  <a:srgbClr val="1A1A1A"/>
                </a:solidFill>
              </a:rPr>
              <a:t> </a:t>
            </a:r>
            <a:r>
              <a:rPr dirty="0" spc="-60">
                <a:solidFill>
                  <a:srgbClr val="111111"/>
                </a:solidFill>
              </a:rPr>
              <a:t>Instances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3158" y="3818989"/>
            <a:ext cx="3843654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85DE4"/>
                </a:solidFill>
                <a:latin typeface="Arial MT"/>
                <a:cs typeface="Arial MT"/>
              </a:rPr>
              <a:t>P</a:t>
            </a:r>
            <a:r>
              <a:rPr dirty="0" sz="1650" spc="-235">
                <a:solidFill>
                  <a:srgbClr val="285DE4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2159E6"/>
                </a:solidFill>
                <a:latin typeface="Arial MT"/>
                <a:cs typeface="Arial MT"/>
              </a:rPr>
              <a:t>HAS</a:t>
            </a:r>
            <a:r>
              <a:rPr dirty="0" sz="1650" spc="-240">
                <a:solidFill>
                  <a:srgbClr val="2159E6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1C5BE2"/>
                </a:solidFill>
                <a:latin typeface="Arial MT"/>
                <a:cs typeface="Arial MT"/>
              </a:rPr>
              <a:t>E</a:t>
            </a:r>
            <a:r>
              <a:rPr dirty="0" sz="1650" spc="280">
                <a:solidFill>
                  <a:srgbClr val="1C5BE2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2162E2"/>
                </a:solidFill>
                <a:latin typeface="Arial MT"/>
                <a:cs typeface="Arial MT"/>
              </a:rPr>
              <a:t>3</a:t>
            </a:r>
            <a:r>
              <a:rPr dirty="0" sz="1650" spc="-290">
                <a:solidFill>
                  <a:srgbClr val="2162E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F5BBF"/>
                </a:solidFill>
                <a:latin typeface="Arial MT"/>
                <a:cs typeface="Arial MT"/>
              </a:rPr>
              <a:t>:</a:t>
            </a:r>
            <a:r>
              <a:rPr dirty="0" sz="1650" spc="320">
                <a:solidFill>
                  <a:srgbClr val="2F5BBF"/>
                </a:solidFill>
                <a:latin typeface="Arial MT"/>
                <a:cs typeface="Arial MT"/>
              </a:rPr>
              <a:t> </a:t>
            </a:r>
            <a:r>
              <a:rPr dirty="0" sz="1650" spc="-140">
                <a:solidFill>
                  <a:srgbClr val="2860E8"/>
                </a:solidFill>
                <a:latin typeface="Arial MT"/>
                <a:cs typeface="Arial MT"/>
              </a:rPr>
              <a:t>B</a:t>
            </a:r>
            <a:r>
              <a:rPr dirty="0" sz="1650" spc="-135">
                <a:solidFill>
                  <a:srgbClr val="2860E8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6EFB"/>
                </a:solidFill>
                <a:latin typeface="Arial MT"/>
                <a:cs typeface="Arial MT"/>
              </a:rPr>
              <a:t>ALAN</a:t>
            </a:r>
            <a:r>
              <a:rPr dirty="0" sz="1650" spc="-215">
                <a:solidFill>
                  <a:srgbClr val="246EFB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65DED"/>
                </a:solidFill>
                <a:latin typeface="Arial MT"/>
                <a:cs typeface="Arial MT"/>
              </a:rPr>
              <a:t>C</a:t>
            </a:r>
            <a:r>
              <a:rPr dirty="0" sz="1650" spc="-185">
                <a:solidFill>
                  <a:srgbClr val="265DED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3466D6"/>
                </a:solidFill>
                <a:latin typeface="Arial MT"/>
                <a:cs typeface="Arial MT"/>
              </a:rPr>
              <a:t>E</a:t>
            </a:r>
            <a:r>
              <a:rPr dirty="0" sz="1650" spc="-220">
                <a:solidFill>
                  <a:srgbClr val="3466D6"/>
                </a:solidFill>
                <a:latin typeface="Arial MT"/>
                <a:cs typeface="Arial MT"/>
              </a:rPr>
              <a:t> </a:t>
            </a:r>
            <a:r>
              <a:rPr dirty="0" sz="1650" spc="-370">
                <a:solidFill>
                  <a:srgbClr val="1F67D3"/>
                </a:solidFill>
                <a:latin typeface="Arial MT"/>
                <a:cs typeface="Arial MT"/>
              </a:rPr>
              <a:t>R</a:t>
            </a:r>
            <a:r>
              <a:rPr dirty="0" sz="1650" spc="340">
                <a:solidFill>
                  <a:srgbClr val="1F67D3"/>
                </a:solidFill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2860E8"/>
                </a:solidFill>
                <a:latin typeface="Arial MT"/>
                <a:cs typeface="Arial MT"/>
              </a:rPr>
              <a:t>D</a:t>
            </a:r>
            <a:r>
              <a:rPr dirty="0" sz="1650" spc="-210">
                <a:solidFill>
                  <a:srgbClr val="2860E8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3466D6"/>
                </a:solidFill>
                <a:latin typeface="Arial MT"/>
                <a:cs typeface="Arial MT"/>
              </a:rPr>
              <a:t>E</a:t>
            </a:r>
            <a:r>
              <a:rPr dirty="0" sz="1650" spc="-215">
                <a:solidFill>
                  <a:srgbClr val="3466D6"/>
                </a:solidFill>
                <a:latin typeface="Arial MT"/>
                <a:cs typeface="Arial MT"/>
              </a:rPr>
              <a:t> </a:t>
            </a:r>
            <a:r>
              <a:rPr dirty="0" sz="1650" spc="-220">
                <a:solidFill>
                  <a:srgbClr val="2662E4"/>
                </a:solidFill>
                <a:latin typeface="Arial MT"/>
                <a:cs typeface="Arial MT"/>
              </a:rPr>
              <a:t>P </a:t>
            </a:r>
            <a:r>
              <a:rPr dirty="0" sz="1650" spc="-114">
                <a:solidFill>
                  <a:srgbClr val="2F67DF"/>
                </a:solidFill>
                <a:latin typeface="Arial MT"/>
                <a:cs typeface="Arial MT"/>
              </a:rPr>
              <a:t>LO</a:t>
            </a:r>
            <a:r>
              <a:rPr dirty="0" sz="1650" spc="-35">
                <a:solidFill>
                  <a:srgbClr val="2F67DF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3854DA"/>
                </a:solidFill>
                <a:latin typeface="Arial MT"/>
                <a:cs typeface="Arial MT"/>
              </a:rPr>
              <a:t>YM</a:t>
            </a:r>
            <a:r>
              <a:rPr dirty="0" sz="1650" spc="-245">
                <a:solidFill>
                  <a:srgbClr val="3854DA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3B62CC"/>
                </a:solidFill>
                <a:latin typeface="Arial MT"/>
                <a:cs typeface="Arial MT"/>
              </a:rPr>
              <a:t>E</a:t>
            </a:r>
            <a:r>
              <a:rPr dirty="0" sz="1650" spc="-210">
                <a:solidFill>
                  <a:srgbClr val="3B62CC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B64D8"/>
                </a:solidFill>
                <a:latin typeface="Arial MT"/>
                <a:cs typeface="Arial MT"/>
              </a:rPr>
              <a:t>N</a:t>
            </a:r>
            <a:r>
              <a:rPr dirty="0" sz="1650" spc="-229">
                <a:solidFill>
                  <a:srgbClr val="2B64D8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15DE2"/>
                </a:solidFill>
                <a:latin typeface="Arial MT"/>
                <a:cs typeface="Arial MT"/>
              </a:rPr>
              <a:t>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881" y="4406668"/>
            <a:ext cx="4995545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30">
                <a:solidFill>
                  <a:srgbClr val="111111"/>
                </a:solidFill>
                <a:latin typeface="Arial MT"/>
                <a:cs typeface="Arial MT"/>
              </a:rPr>
              <a:t>LinkWeb</a:t>
            </a:r>
            <a:r>
              <a:rPr dirty="0" sz="3450" spc="-2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111111"/>
                </a:solidFill>
                <a:latin typeface="Arial MT"/>
                <a:cs typeface="Arial MT"/>
              </a:rPr>
              <a:t>Instances</a:t>
            </a:r>
            <a:r>
              <a:rPr dirty="0" sz="3450" spc="-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450" spc="11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3450" spc="-2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450" spc="-455">
                <a:solidFill>
                  <a:srgbClr val="111111"/>
                </a:solidFill>
                <a:latin typeface="Arial MT"/>
                <a:cs typeface="Arial MT"/>
              </a:rPr>
              <a:t>CLB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25">
                <a:solidFill>
                  <a:srgbClr val="44546E"/>
                </a:solidFill>
              </a:rPr>
              <a:t>We</a:t>
            </a:r>
            <a:r>
              <a:rPr dirty="0" spc="-204">
                <a:solidFill>
                  <a:srgbClr val="44546E"/>
                </a:solidFill>
              </a:rPr>
              <a:t> </a:t>
            </a:r>
            <a:r>
              <a:rPr dirty="0" spc="-170">
                <a:solidFill>
                  <a:srgbClr val="494949"/>
                </a:solidFill>
              </a:rPr>
              <a:t>connect</a:t>
            </a:r>
            <a:r>
              <a:rPr dirty="0" spc="60">
                <a:solidFill>
                  <a:srgbClr val="494949"/>
                </a:solidFill>
              </a:rPr>
              <a:t> </a:t>
            </a:r>
            <a:r>
              <a:rPr dirty="0" spc="-114">
                <a:solidFill>
                  <a:srgbClr val="4D4D4D"/>
                </a:solidFill>
              </a:rPr>
              <a:t>the</a:t>
            </a:r>
            <a:r>
              <a:rPr dirty="0" spc="-185">
                <a:solidFill>
                  <a:srgbClr val="4D4D4D"/>
                </a:solidFill>
              </a:rPr>
              <a:t> </a:t>
            </a:r>
            <a:r>
              <a:rPr dirty="0" spc="-120">
                <a:solidFill>
                  <a:srgbClr val="4F4F4F"/>
                </a:solidFill>
              </a:rPr>
              <a:t>underlying</a:t>
            </a:r>
            <a:r>
              <a:rPr dirty="0" spc="-105">
                <a:solidFill>
                  <a:srgbClr val="4F4F4F"/>
                </a:solidFill>
              </a:rPr>
              <a:t> </a:t>
            </a:r>
            <a:r>
              <a:rPr dirty="0" spc="-80"/>
              <a:t>virtual</a:t>
            </a:r>
            <a:r>
              <a:rPr dirty="0" spc="-55"/>
              <a:t> </a:t>
            </a:r>
            <a:r>
              <a:rPr dirty="0" spc="-204">
                <a:solidFill>
                  <a:srgbClr val="424242"/>
                </a:solidFill>
              </a:rPr>
              <a:t>servers</a:t>
            </a:r>
            <a:r>
              <a:rPr dirty="0" spc="60">
                <a:solidFill>
                  <a:srgbClr val="424242"/>
                </a:solidFill>
              </a:rPr>
              <a:t> </a:t>
            </a:r>
            <a:r>
              <a:rPr dirty="0" spc="-20">
                <a:solidFill>
                  <a:srgbClr val="4D4D4D"/>
                </a:solidFill>
              </a:rPr>
              <a:t>to</a:t>
            </a:r>
            <a:r>
              <a:rPr dirty="0" spc="-190">
                <a:solidFill>
                  <a:srgbClr val="4D4D4D"/>
                </a:solidFill>
              </a:rPr>
              <a:t> </a:t>
            </a:r>
            <a:r>
              <a:rPr dirty="0" spc="-110">
                <a:solidFill>
                  <a:srgbClr val="565656"/>
                </a:solidFill>
              </a:rPr>
              <a:t>the</a:t>
            </a:r>
            <a:r>
              <a:rPr dirty="0" spc="-125">
                <a:solidFill>
                  <a:srgbClr val="565656"/>
                </a:solidFill>
              </a:rPr>
              <a:t> </a:t>
            </a:r>
            <a:r>
              <a:rPr dirty="0" spc="-165"/>
              <a:t>balancing</a:t>
            </a:r>
            <a:r>
              <a:rPr dirty="0" spc="-95"/>
              <a:t> </a:t>
            </a:r>
            <a:r>
              <a:rPr dirty="0" spc="-35">
                <a:solidFill>
                  <a:srgbClr val="484848"/>
                </a:solidFill>
              </a:rPr>
              <a:t>service.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</a:p>
          <a:p>
            <a:pPr marL="323215" indent="-283210">
              <a:lnSpc>
                <a:spcPct val="100000"/>
              </a:lnSpc>
              <a:spcBef>
                <a:spcPts val="5"/>
              </a:spcBef>
              <a:buClr>
                <a:srgbClr val="49576E"/>
              </a:buClr>
              <a:buChar char="•"/>
              <a:tabLst>
                <a:tab pos="323215" algn="l"/>
              </a:tabLst>
            </a:pPr>
            <a:r>
              <a:rPr dirty="0" spc="-240"/>
              <a:t>The</a:t>
            </a:r>
            <a:r>
              <a:rPr dirty="0" spc="-165"/>
              <a:t> </a:t>
            </a:r>
            <a:r>
              <a:rPr dirty="0" spc="-135">
                <a:solidFill>
                  <a:srgbClr val="464646"/>
                </a:solidFill>
              </a:rPr>
              <a:t>register</a:t>
            </a:r>
            <a:r>
              <a:rPr dirty="0" spc="-5">
                <a:solidFill>
                  <a:srgbClr val="464646"/>
                </a:solidFill>
              </a:rPr>
              <a:t> </a:t>
            </a:r>
            <a:r>
              <a:rPr dirty="0" spc="-180">
                <a:solidFill>
                  <a:srgbClr val="484848"/>
                </a:solidFill>
              </a:rPr>
              <a:t>instances</a:t>
            </a:r>
            <a:r>
              <a:rPr dirty="0" spc="70">
                <a:solidFill>
                  <a:srgbClr val="484848"/>
                </a:solidFill>
              </a:rPr>
              <a:t> </a:t>
            </a:r>
            <a:r>
              <a:rPr dirty="0" spc="-190">
                <a:solidFill>
                  <a:srgbClr val="4D4D4D"/>
                </a:solidFill>
              </a:rPr>
              <a:t>modal</a:t>
            </a:r>
            <a:r>
              <a:rPr dirty="0">
                <a:solidFill>
                  <a:srgbClr val="4D4D4D"/>
                </a:solidFill>
              </a:rPr>
              <a:t> </a:t>
            </a:r>
            <a:r>
              <a:rPr dirty="0" spc="-210">
                <a:solidFill>
                  <a:srgbClr val="484848"/>
                </a:solidFill>
              </a:rPr>
              <a:t>opens</a:t>
            </a:r>
            <a:r>
              <a:rPr dirty="0" spc="45">
                <a:solidFill>
                  <a:srgbClr val="484848"/>
                </a:solidFill>
              </a:rPr>
              <a:t> </a:t>
            </a:r>
            <a:r>
              <a:rPr dirty="0" spc="-70">
                <a:solidFill>
                  <a:srgbClr val="545454"/>
                </a:solidFill>
              </a:rPr>
              <a:t>within</a:t>
            </a:r>
            <a:r>
              <a:rPr dirty="0" spc="-155">
                <a:solidFill>
                  <a:srgbClr val="545454"/>
                </a:solidFill>
              </a:rPr>
              <a:t> </a:t>
            </a:r>
            <a:r>
              <a:rPr dirty="0" spc="-114">
                <a:solidFill>
                  <a:srgbClr val="494949"/>
                </a:solidFill>
              </a:rPr>
              <a:t>our</a:t>
            </a:r>
            <a:r>
              <a:rPr dirty="0" spc="-60">
                <a:solidFill>
                  <a:srgbClr val="494949"/>
                </a:solidFill>
              </a:rPr>
              <a:t> </a:t>
            </a:r>
            <a:r>
              <a:rPr dirty="0" spc="-155">
                <a:solidFill>
                  <a:srgbClr val="494949"/>
                </a:solidFill>
              </a:rPr>
              <a:t>active</a:t>
            </a:r>
            <a:r>
              <a:rPr dirty="0" spc="-50">
                <a:solidFill>
                  <a:srgbClr val="494949"/>
                </a:solidFill>
              </a:rPr>
              <a:t> </a:t>
            </a:r>
            <a:r>
              <a:rPr dirty="0" spc="-20">
                <a:solidFill>
                  <a:srgbClr val="4D4D4D"/>
                </a:solidFill>
              </a:rPr>
              <a:t>VPC.</a:t>
            </a:r>
          </a:p>
          <a:p>
            <a:pPr marL="325120" indent="-285115">
              <a:lnSpc>
                <a:spcPct val="100000"/>
              </a:lnSpc>
              <a:spcBef>
                <a:spcPts val="1440"/>
              </a:spcBef>
              <a:buClr>
                <a:srgbClr val="465269"/>
              </a:buClr>
              <a:buChar char="•"/>
              <a:tabLst>
                <a:tab pos="325120" algn="l"/>
              </a:tabLst>
            </a:pPr>
            <a:r>
              <a:rPr dirty="0" spc="-225">
                <a:solidFill>
                  <a:srgbClr val="3F3F3F"/>
                </a:solidFill>
              </a:rPr>
              <a:t>Select</a:t>
            </a:r>
            <a:r>
              <a:rPr dirty="0" spc="35">
                <a:solidFill>
                  <a:srgbClr val="3F3F3F"/>
                </a:solidFill>
              </a:rPr>
              <a:t> </a:t>
            </a:r>
            <a:r>
              <a:rPr dirty="0" spc="-90">
                <a:solidFill>
                  <a:srgbClr val="444444"/>
                </a:solidFill>
              </a:rPr>
              <a:t>both</a:t>
            </a:r>
            <a:r>
              <a:rPr dirty="0" spc="-80">
                <a:solidFill>
                  <a:srgbClr val="444444"/>
                </a:solidFill>
              </a:rPr>
              <a:t> </a:t>
            </a:r>
            <a:r>
              <a:rPr dirty="0" spc="-165"/>
              <a:t>available</a:t>
            </a:r>
            <a:r>
              <a:rPr dirty="0" spc="5"/>
              <a:t> </a:t>
            </a:r>
            <a:r>
              <a:rPr dirty="0" spc="-155"/>
              <a:t>active</a:t>
            </a:r>
            <a:r>
              <a:rPr dirty="0" spc="-114"/>
              <a:t> </a:t>
            </a:r>
            <a:r>
              <a:rPr dirty="0" spc="-165">
                <a:solidFill>
                  <a:srgbClr val="3F3F3F"/>
                </a:solidFill>
              </a:rPr>
              <a:t>instances:</a:t>
            </a:r>
            <a:r>
              <a:rPr dirty="0" spc="-45">
                <a:solidFill>
                  <a:srgbClr val="3F3F3F"/>
                </a:solidFill>
              </a:rPr>
              <a:t> </a:t>
            </a:r>
            <a:r>
              <a:rPr dirty="0" spc="-45">
                <a:solidFill>
                  <a:srgbClr val="484848"/>
                </a:solidFill>
              </a:rPr>
              <a:t>Server-1</a:t>
            </a:r>
            <a:r>
              <a:rPr dirty="0" spc="-325">
                <a:solidFill>
                  <a:srgbClr val="484848"/>
                </a:solidFill>
              </a:rPr>
              <a:t> </a:t>
            </a:r>
            <a:r>
              <a:rPr dirty="0" spc="-229">
                <a:solidFill>
                  <a:srgbClr val="494949"/>
                </a:solidFill>
              </a:rPr>
              <a:t>and</a:t>
            </a:r>
            <a:r>
              <a:rPr dirty="0" spc="-70">
                <a:solidFill>
                  <a:srgbClr val="494949"/>
                </a:solidFill>
              </a:rPr>
              <a:t> </a:t>
            </a:r>
            <a:r>
              <a:rPr dirty="0" spc="-80">
                <a:solidFill>
                  <a:srgbClr val="343434"/>
                </a:solidFill>
              </a:rPr>
              <a:t>server-</a:t>
            </a:r>
            <a:r>
              <a:rPr dirty="0" spc="-25">
                <a:solidFill>
                  <a:srgbClr val="343434"/>
                </a:solidFill>
              </a:rPr>
              <a:t>2.</a:t>
            </a:r>
          </a:p>
          <a:p>
            <a:pPr marL="318770" marR="5080" indent="-279400">
              <a:lnSpc>
                <a:spcPct val="117100"/>
              </a:lnSpc>
              <a:spcBef>
                <a:spcPts val="1115"/>
              </a:spcBef>
              <a:buChar char="•"/>
              <a:tabLst>
                <a:tab pos="318770" algn="l"/>
                <a:tab pos="322580" algn="l"/>
              </a:tabLst>
            </a:pPr>
            <a:r>
              <a:rPr dirty="0">
                <a:solidFill>
                  <a:srgbClr val="4B5969"/>
                </a:solidFill>
              </a:rPr>
              <a:t>	</a:t>
            </a:r>
            <a:r>
              <a:rPr dirty="0" spc="-210">
                <a:solidFill>
                  <a:srgbClr val="444444"/>
                </a:solidFill>
              </a:rPr>
              <a:t>Review</a:t>
            </a:r>
            <a:r>
              <a:rPr dirty="0" spc="-70">
                <a:solidFill>
                  <a:srgbClr val="444444"/>
                </a:solidFill>
              </a:rPr>
              <a:t> </a:t>
            </a:r>
            <a:r>
              <a:rPr dirty="0" spc="-130">
                <a:solidFill>
                  <a:srgbClr val="3F3F3F"/>
                </a:solidFill>
              </a:rPr>
              <a:t>details</a:t>
            </a:r>
            <a:r>
              <a:rPr dirty="0" spc="50">
                <a:solidFill>
                  <a:srgbClr val="3F3F3F"/>
                </a:solidFill>
              </a:rPr>
              <a:t> </a:t>
            </a:r>
            <a:r>
              <a:rPr dirty="0" spc="-330">
                <a:solidFill>
                  <a:srgbClr val="494949"/>
                </a:solidFill>
              </a:rPr>
              <a:t>as</a:t>
            </a:r>
            <a:r>
              <a:rPr dirty="0" spc="-95">
                <a:solidFill>
                  <a:srgbClr val="494949"/>
                </a:solidFill>
              </a:rPr>
              <a:t> </a:t>
            </a:r>
            <a:r>
              <a:rPr dirty="0" spc="-160">
                <a:solidFill>
                  <a:srgbClr val="414141"/>
                </a:solidFill>
              </a:rPr>
              <a:t>represented</a:t>
            </a:r>
            <a:r>
              <a:rPr dirty="0" spc="30">
                <a:solidFill>
                  <a:srgbClr val="414141"/>
                </a:solidFill>
              </a:rPr>
              <a:t> </a:t>
            </a:r>
            <a:r>
              <a:rPr dirty="0" spc="-60">
                <a:solidFill>
                  <a:srgbClr val="3B4D64"/>
                </a:solidFill>
              </a:rPr>
              <a:t>in</a:t>
            </a:r>
            <a:r>
              <a:rPr dirty="0" spc="-190">
                <a:solidFill>
                  <a:srgbClr val="3B4D64"/>
                </a:solidFill>
              </a:rPr>
              <a:t> </a:t>
            </a:r>
            <a:r>
              <a:rPr dirty="0" spc="-140">
                <a:solidFill>
                  <a:srgbClr val="424242"/>
                </a:solidFill>
              </a:rPr>
              <a:t>1000150109.png,</a:t>
            </a:r>
            <a:r>
              <a:rPr dirty="0" spc="-365">
                <a:solidFill>
                  <a:srgbClr val="424242"/>
                </a:solidFill>
              </a:rPr>
              <a:t> </a:t>
            </a:r>
            <a:r>
              <a:rPr dirty="0" spc="-105">
                <a:solidFill>
                  <a:srgbClr val="545454"/>
                </a:solidFill>
              </a:rPr>
              <a:t>highlighting</a:t>
            </a:r>
            <a:r>
              <a:rPr dirty="0" spc="-140">
                <a:solidFill>
                  <a:srgbClr val="545454"/>
                </a:solidFill>
              </a:rPr>
              <a:t> </a:t>
            </a:r>
            <a:r>
              <a:rPr dirty="0" spc="-114">
                <a:solidFill>
                  <a:srgbClr val="525252"/>
                </a:solidFill>
              </a:rPr>
              <a:t>running</a:t>
            </a:r>
            <a:r>
              <a:rPr dirty="0" spc="-90">
                <a:solidFill>
                  <a:srgbClr val="525252"/>
                </a:solidFill>
              </a:rPr>
              <a:t> </a:t>
            </a:r>
            <a:r>
              <a:rPr dirty="0" spc="-135">
                <a:solidFill>
                  <a:srgbClr val="444444"/>
                </a:solidFill>
              </a:rPr>
              <a:t>state</a:t>
            </a:r>
            <a:r>
              <a:rPr dirty="0" spc="-60">
                <a:solidFill>
                  <a:srgbClr val="444444"/>
                </a:solidFill>
              </a:rPr>
              <a:t> </a:t>
            </a:r>
            <a:r>
              <a:rPr dirty="0" spc="-229">
                <a:solidFill>
                  <a:srgbClr val="525777"/>
                </a:solidFill>
              </a:rPr>
              <a:t>and</a:t>
            </a:r>
            <a:r>
              <a:rPr dirty="0" spc="-5">
                <a:solidFill>
                  <a:srgbClr val="525777"/>
                </a:solidFill>
              </a:rPr>
              <a:t> </a:t>
            </a:r>
            <a:r>
              <a:rPr dirty="0" spc="-25">
                <a:solidFill>
                  <a:srgbClr val="424242"/>
                </a:solidFill>
              </a:rPr>
              <a:t>IP </a:t>
            </a:r>
            <a:r>
              <a:rPr dirty="0" spc="-50"/>
              <a:t>configurations.</a:t>
            </a:r>
          </a:p>
          <a:p>
            <a:pPr marL="323850" indent="-283845">
              <a:lnSpc>
                <a:spcPct val="100000"/>
              </a:lnSpc>
              <a:spcBef>
                <a:spcPts val="1560"/>
              </a:spcBef>
              <a:buClr>
                <a:srgbClr val="445062"/>
              </a:buClr>
              <a:buChar char="•"/>
              <a:tabLst>
                <a:tab pos="323850" algn="l"/>
              </a:tabLst>
            </a:pPr>
            <a:r>
              <a:rPr dirty="0" spc="-150">
                <a:solidFill>
                  <a:srgbClr val="494949"/>
                </a:solidFill>
              </a:rPr>
              <a:t>Click</a:t>
            </a:r>
            <a:r>
              <a:rPr dirty="0" spc="-100">
                <a:solidFill>
                  <a:srgbClr val="494949"/>
                </a:solidFill>
              </a:rPr>
              <a:t> </a:t>
            </a:r>
            <a:r>
              <a:rPr dirty="0" spc="-75">
                <a:solidFill>
                  <a:srgbClr val="494949"/>
                </a:solidFill>
              </a:rPr>
              <a:t>"Confirm"</a:t>
            </a:r>
            <a:r>
              <a:rPr dirty="0" spc="114">
                <a:solidFill>
                  <a:srgbClr val="494949"/>
                </a:solidFill>
              </a:rPr>
              <a:t> </a:t>
            </a:r>
            <a:r>
              <a:rPr dirty="0" spc="-20">
                <a:solidFill>
                  <a:srgbClr val="525252"/>
                </a:solidFill>
              </a:rPr>
              <a:t>to</a:t>
            </a:r>
            <a:r>
              <a:rPr dirty="0" spc="-190">
                <a:solidFill>
                  <a:srgbClr val="525252"/>
                </a:solidFill>
              </a:rPr>
              <a:t> </a:t>
            </a:r>
            <a:r>
              <a:rPr dirty="0" spc="-125">
                <a:solidFill>
                  <a:srgbClr val="494949"/>
                </a:solidFill>
              </a:rPr>
              <a:t>bind</a:t>
            </a:r>
            <a:r>
              <a:rPr dirty="0" spc="-145">
                <a:solidFill>
                  <a:srgbClr val="494949"/>
                </a:solidFill>
              </a:rPr>
              <a:t> </a:t>
            </a:r>
            <a:r>
              <a:rPr dirty="0" spc="-175">
                <a:solidFill>
                  <a:srgbClr val="424242"/>
                </a:solidFill>
              </a:rPr>
              <a:t>these</a:t>
            </a:r>
            <a:r>
              <a:rPr dirty="0" spc="-140">
                <a:solidFill>
                  <a:srgbClr val="424242"/>
                </a:solidFill>
              </a:rPr>
              <a:t> targets</a:t>
            </a:r>
            <a:r>
              <a:rPr dirty="0" spc="5">
                <a:solidFill>
                  <a:srgbClr val="424242"/>
                </a:solidFill>
              </a:rPr>
              <a:t> </a:t>
            </a:r>
            <a:r>
              <a:rPr dirty="0" spc="-20">
                <a:solidFill>
                  <a:srgbClr val="465677"/>
                </a:solidFill>
              </a:rPr>
              <a:t>to</a:t>
            </a:r>
            <a:r>
              <a:rPr dirty="0" spc="-210">
                <a:solidFill>
                  <a:srgbClr val="465677"/>
                </a:solidFill>
              </a:rPr>
              <a:t> </a:t>
            </a:r>
            <a:r>
              <a:rPr dirty="0" spc="-110">
                <a:solidFill>
                  <a:srgbClr val="878E9E"/>
                </a:solidFill>
              </a:rPr>
              <a:t>the</a:t>
            </a:r>
            <a:r>
              <a:rPr dirty="0" spc="-135">
                <a:solidFill>
                  <a:srgbClr val="878E9E"/>
                </a:solidFill>
              </a:rPr>
              <a:t> </a:t>
            </a:r>
            <a:r>
              <a:rPr dirty="0" spc="-180">
                <a:solidFill>
                  <a:srgbClr val="505050"/>
                </a:solidFill>
              </a:rPr>
              <a:t>load</a:t>
            </a:r>
            <a:r>
              <a:rPr dirty="0" spc="-100">
                <a:solidFill>
                  <a:srgbClr val="505050"/>
                </a:solidFill>
              </a:rPr>
              <a:t> </a:t>
            </a:r>
            <a:r>
              <a:rPr dirty="0" spc="-65">
                <a:solidFill>
                  <a:srgbClr val="424242"/>
                </a:solidFill>
              </a:rPr>
              <a:t>distribution</a:t>
            </a:r>
            <a:r>
              <a:rPr dirty="0" spc="-45">
                <a:solidFill>
                  <a:srgbClr val="424242"/>
                </a:solidFill>
              </a:rPr>
              <a:t> </a:t>
            </a:r>
            <a:r>
              <a:rPr dirty="0" spc="-10">
                <a:solidFill>
                  <a:srgbClr val="4D4D4D"/>
                </a:solidFill>
              </a:rPr>
              <a:t>pool.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z="4900" spc="-160"/>
              <a:t>Step</a:t>
            </a:r>
            <a:r>
              <a:rPr dirty="0" sz="4900" spc="-340"/>
              <a:t> </a:t>
            </a:r>
            <a:r>
              <a:rPr dirty="0" sz="4900">
                <a:solidFill>
                  <a:srgbClr val="1A1A1A"/>
                </a:solidFill>
              </a:rPr>
              <a:t>9:</a:t>
            </a:r>
            <a:r>
              <a:rPr dirty="0" sz="4900">
                <a:solidFill>
                  <a:srgbClr val="111111"/>
                </a:solidFill>
              </a:rPr>
              <a:t>Final</a:t>
            </a:r>
            <a:r>
              <a:rPr dirty="0" sz="4900" spc="-475">
                <a:solidFill>
                  <a:srgbClr val="111111"/>
                </a:solidFill>
              </a:rPr>
              <a:t> </a:t>
            </a:r>
            <a:r>
              <a:rPr dirty="0" sz="4900" spc="-10">
                <a:solidFill>
                  <a:srgbClr val="131313"/>
                </a:solidFill>
              </a:rPr>
              <a:t>Status</a:t>
            </a:r>
            <a:r>
              <a:rPr dirty="0" sz="4900" spc="-140">
                <a:solidFill>
                  <a:srgbClr val="131313"/>
                </a:solidFill>
              </a:rPr>
              <a:t> </a:t>
            </a:r>
            <a:r>
              <a:rPr dirty="0" sz="4900" spc="85">
                <a:solidFill>
                  <a:srgbClr val="111111"/>
                </a:solidFill>
              </a:rPr>
              <a:t>Verification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133158" y="4023171"/>
            <a:ext cx="251333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20">
                <a:solidFill>
                  <a:srgbClr val="235DDA"/>
                </a:solidFill>
                <a:latin typeface="Arial MT"/>
                <a:cs typeface="Arial MT"/>
              </a:rPr>
              <a:t>P </a:t>
            </a:r>
            <a:r>
              <a:rPr dirty="0" sz="1650" spc="-20">
                <a:solidFill>
                  <a:srgbClr val="3472FF"/>
                </a:solidFill>
                <a:latin typeface="Arial MT"/>
                <a:cs typeface="Arial MT"/>
              </a:rPr>
              <a:t>HAS</a:t>
            </a:r>
            <a:r>
              <a:rPr dirty="0" sz="1650" spc="-225">
                <a:solidFill>
                  <a:srgbClr val="3472FF"/>
                </a:solidFill>
                <a:latin typeface="Arial MT"/>
                <a:cs typeface="Arial MT"/>
              </a:rPr>
              <a:t> </a:t>
            </a:r>
            <a:r>
              <a:rPr dirty="0" sz="1650" spc="-355">
                <a:solidFill>
                  <a:srgbClr val="2662F4"/>
                </a:solidFill>
                <a:latin typeface="Arial MT"/>
                <a:cs typeface="Arial MT"/>
              </a:rPr>
              <a:t>E</a:t>
            </a:r>
            <a:r>
              <a:rPr dirty="0" sz="1650" spc="390">
                <a:solidFill>
                  <a:srgbClr val="2662F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37BDA"/>
                </a:solidFill>
                <a:latin typeface="Arial MT"/>
                <a:cs typeface="Arial MT"/>
              </a:rPr>
              <a:t>4</a:t>
            </a:r>
            <a:r>
              <a:rPr dirty="0" sz="1650" spc="-220">
                <a:solidFill>
                  <a:srgbClr val="137BD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5BE9"/>
                </a:solidFill>
                <a:latin typeface="Arial MT"/>
                <a:cs typeface="Arial MT"/>
              </a:rPr>
              <a:t>:</a:t>
            </a:r>
            <a:r>
              <a:rPr dirty="0" sz="1650" spc="320">
                <a:solidFill>
                  <a:srgbClr val="155BE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64DEF"/>
                </a:solidFill>
                <a:latin typeface="Arial MT"/>
                <a:cs typeface="Arial MT"/>
              </a:rPr>
              <a:t>VALI</a:t>
            </a:r>
            <a:r>
              <a:rPr dirty="0" sz="1650" spc="-290">
                <a:solidFill>
                  <a:srgbClr val="264DEF"/>
                </a:solidFill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265BF2"/>
                </a:solidFill>
                <a:latin typeface="Arial MT"/>
                <a:cs typeface="Arial MT"/>
              </a:rPr>
              <a:t>D</a:t>
            </a:r>
            <a:r>
              <a:rPr dirty="0" sz="1650" spc="-114">
                <a:solidFill>
                  <a:srgbClr val="265BF2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D60E4"/>
                </a:solidFill>
                <a:latin typeface="Arial MT"/>
                <a:cs typeface="Arial MT"/>
              </a:rPr>
              <a:t>AT</a:t>
            </a:r>
            <a:r>
              <a:rPr dirty="0" sz="1650" spc="-90">
                <a:solidFill>
                  <a:srgbClr val="2D60E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15DDD"/>
                </a:solidFill>
                <a:latin typeface="Arial MT"/>
                <a:cs typeface="Arial MT"/>
              </a:rPr>
              <a:t>IO</a:t>
            </a:r>
            <a:r>
              <a:rPr dirty="0" sz="1650" spc="-120">
                <a:solidFill>
                  <a:srgbClr val="215DDD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F69CF"/>
                </a:solidFill>
                <a:latin typeface="Arial MT"/>
                <a:cs typeface="Arial MT"/>
              </a:rPr>
              <a:t>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011" y="4643571"/>
            <a:ext cx="7947025" cy="35375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254">
                <a:solidFill>
                  <a:srgbClr val="161616"/>
                </a:solidFill>
                <a:latin typeface="Arial MT"/>
                <a:cs typeface="Arial MT"/>
              </a:rPr>
              <a:t>CLB</a:t>
            </a:r>
            <a:r>
              <a:rPr dirty="0" sz="3200" spc="-229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200" spc="140">
                <a:solidFill>
                  <a:srgbClr val="111111"/>
                </a:solidFill>
                <a:latin typeface="Arial MT"/>
                <a:cs typeface="Arial MT"/>
              </a:rPr>
              <a:t>Active</a:t>
            </a:r>
            <a:r>
              <a:rPr dirty="0" sz="3200" spc="-1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200" spc="210">
                <a:solidFill>
                  <a:srgbClr val="151515"/>
                </a:solidFill>
                <a:latin typeface="Arial MT"/>
                <a:cs typeface="Arial MT"/>
              </a:rPr>
              <a:t>&amp;</a:t>
            </a:r>
            <a:r>
              <a:rPr dirty="0" sz="3200" spc="-18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3200" spc="140">
                <a:solidFill>
                  <a:srgbClr val="0E0E0E"/>
                </a:solidFill>
                <a:latin typeface="Arial MT"/>
                <a:cs typeface="Arial MT"/>
              </a:rPr>
              <a:t>Configured</a:t>
            </a:r>
            <a:endParaRPr sz="32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3590"/>
              </a:spcBef>
            </a:pPr>
            <a:r>
              <a:rPr dirty="0" sz="2200" spc="-225">
                <a:solidFill>
                  <a:srgbClr val="495B69"/>
                </a:solidFill>
                <a:latin typeface="Arial MT"/>
                <a:cs typeface="Arial MT"/>
              </a:rPr>
              <a:t>We</a:t>
            </a:r>
            <a:r>
              <a:rPr dirty="0" sz="2200" spc="-195">
                <a:solidFill>
                  <a:srgbClr val="495B69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4B4B4B"/>
                </a:solidFill>
                <a:latin typeface="Arial MT"/>
                <a:cs typeface="Arial MT"/>
              </a:rPr>
              <a:t>examine</a:t>
            </a:r>
            <a:r>
              <a:rPr dirty="0" sz="2200" spc="-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69858C"/>
                </a:solidFill>
                <a:latin typeface="Arial MT"/>
                <a:cs typeface="Arial MT"/>
              </a:rPr>
              <a:t>the </a:t>
            </a:r>
            <a:r>
              <a:rPr dirty="0" sz="2200" spc="-155">
                <a:solidFill>
                  <a:srgbClr val="4B526B"/>
                </a:solidFill>
                <a:latin typeface="Arial MT"/>
                <a:cs typeface="Arial MT"/>
              </a:rPr>
              <a:t>active</a:t>
            </a:r>
            <a:r>
              <a:rPr dirty="0" sz="2200" spc="-105">
                <a:solidFill>
                  <a:srgbClr val="4B526B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414141"/>
                </a:solidFill>
                <a:latin typeface="Arial MT"/>
                <a:cs typeface="Arial MT"/>
              </a:rPr>
              <a:t>states</a:t>
            </a:r>
            <a:r>
              <a:rPr dirty="0" sz="2200" spc="-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r>
              <a:rPr dirty="0" sz="2200" spc="-1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4B4B4B"/>
                </a:solidFill>
                <a:latin typeface="Arial MT"/>
                <a:cs typeface="Arial MT"/>
              </a:rPr>
              <a:t>verify</a:t>
            </a:r>
            <a:r>
              <a:rPr dirty="0" sz="2200" spc="-1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4B4B4B"/>
                </a:solidFill>
                <a:latin typeface="Arial MT"/>
                <a:cs typeface="Arial MT"/>
              </a:rPr>
              <a:t>proper</a:t>
            </a:r>
            <a:r>
              <a:rPr dirty="0" sz="2200" spc="-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F4F4F"/>
                </a:solidFill>
                <a:latin typeface="Arial MT"/>
                <a:cs typeface="Arial MT"/>
              </a:rPr>
              <a:t>routing</a:t>
            </a:r>
            <a:r>
              <a:rPr dirty="0" sz="2200" spc="-204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B4B4B"/>
                </a:solidFill>
                <a:latin typeface="Arial MT"/>
                <a:cs typeface="Arial MT"/>
              </a:rPr>
              <a:t>functionality.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Arial MT"/>
              <a:cs typeface="Arial MT"/>
            </a:endParaRPr>
          </a:p>
          <a:p>
            <a:pPr marL="332740" indent="-283210">
              <a:lnSpc>
                <a:spcPct val="100000"/>
              </a:lnSpc>
              <a:buClr>
                <a:srgbClr val="445467"/>
              </a:buClr>
              <a:buChar char="•"/>
              <a:tabLst>
                <a:tab pos="332740" algn="l"/>
              </a:tabLst>
            </a:pPr>
            <a:r>
              <a:rPr dirty="0" sz="2200" spc="-24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200" spc="-10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3F3F3F"/>
                </a:solidFill>
                <a:latin typeface="Arial MT"/>
                <a:cs typeface="Arial MT"/>
              </a:rPr>
              <a:t>banner</a:t>
            </a:r>
            <a:r>
              <a:rPr dirty="0" sz="2200" spc="-9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B4B4B"/>
                </a:solidFill>
                <a:latin typeface="Arial MT"/>
                <a:cs typeface="Arial MT"/>
              </a:rPr>
              <a:t>confirms:</a:t>
            </a:r>
            <a:r>
              <a:rPr dirty="0" sz="2200" spc="-12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484848"/>
                </a:solidFill>
                <a:latin typeface="Arial MT"/>
                <a:cs typeface="Arial MT"/>
              </a:rPr>
              <a:t>Successfully</a:t>
            </a:r>
            <a:r>
              <a:rPr dirty="0" sz="2200" spc="10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464646"/>
                </a:solidFill>
                <a:latin typeface="Arial MT"/>
                <a:cs typeface="Arial MT"/>
              </a:rPr>
              <a:t>created</a:t>
            </a:r>
            <a:r>
              <a:rPr dirty="0" sz="2200" spc="-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464646"/>
                </a:solidFill>
                <a:latin typeface="Arial MT"/>
                <a:cs typeface="Arial MT"/>
              </a:rPr>
              <a:t>load</a:t>
            </a:r>
            <a:r>
              <a:rPr dirty="0" sz="2200" spc="-1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3B3B3B"/>
                </a:solidFill>
                <a:latin typeface="Arial MT"/>
                <a:cs typeface="Arial MT"/>
              </a:rPr>
              <a:t>balancer:</a:t>
            </a:r>
            <a:r>
              <a:rPr dirty="0" sz="2200" spc="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383838"/>
                </a:solidFill>
                <a:latin typeface="Arial MT"/>
                <a:cs typeface="Arial MT"/>
              </a:rPr>
              <a:t>lb-</a:t>
            </a:r>
            <a:r>
              <a:rPr dirty="0" sz="2200" spc="-25">
                <a:solidFill>
                  <a:srgbClr val="383838"/>
                </a:solidFill>
                <a:latin typeface="Arial MT"/>
                <a:cs typeface="Arial MT"/>
              </a:rPr>
              <a:t>1.</a:t>
            </a:r>
            <a:endParaRPr sz="2200">
              <a:latin typeface="Arial MT"/>
              <a:cs typeface="Arial MT"/>
            </a:endParaRPr>
          </a:p>
          <a:p>
            <a:pPr marL="332740" indent="-283210">
              <a:lnSpc>
                <a:spcPct val="100000"/>
              </a:lnSpc>
              <a:spcBef>
                <a:spcPts val="1440"/>
              </a:spcBef>
              <a:buClr>
                <a:srgbClr val="445062"/>
              </a:buClr>
              <a:buChar char="•"/>
              <a:tabLst>
                <a:tab pos="332740" algn="l"/>
              </a:tabLst>
            </a:pPr>
            <a:r>
              <a:rPr dirty="0" sz="2200" spc="-210">
                <a:solidFill>
                  <a:srgbClr val="494949"/>
                </a:solidFill>
                <a:latin typeface="Arial MT"/>
                <a:cs typeface="Arial MT"/>
              </a:rPr>
              <a:t>Review</a:t>
            </a:r>
            <a:r>
              <a:rPr dirty="0" sz="2200" spc="-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94949"/>
                </a:solidFill>
                <a:latin typeface="Arial MT"/>
                <a:cs typeface="Arial MT"/>
              </a:rPr>
              <a:t>parameters</a:t>
            </a:r>
            <a:r>
              <a:rPr dirty="0" sz="2200" spc="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44444"/>
                </a:solidFill>
                <a:latin typeface="Arial MT"/>
                <a:cs typeface="Arial MT"/>
              </a:rPr>
              <a:t>inside</a:t>
            </a:r>
            <a:r>
              <a:rPr dirty="0" sz="2200" spc="-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494949"/>
                </a:solidFill>
                <a:latin typeface="Arial MT"/>
                <a:cs typeface="Arial MT"/>
              </a:rPr>
              <a:t>1000150110.png:</a:t>
            </a:r>
            <a:r>
              <a:rPr dirty="0" sz="2200" spc="-17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305">
                <a:solidFill>
                  <a:srgbClr val="4F4F4F"/>
                </a:solidFill>
                <a:latin typeface="Arial MT"/>
                <a:cs typeface="Arial MT"/>
              </a:rPr>
              <a:t>Scheme</a:t>
            </a:r>
            <a:r>
              <a:rPr dirty="0" sz="2200" spc="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7293AC"/>
                </a:solidFill>
                <a:latin typeface="Arial MT"/>
                <a:cs typeface="Arial MT"/>
              </a:rPr>
              <a:t>is</a:t>
            </a:r>
            <a:r>
              <a:rPr dirty="0" sz="2200" spc="120">
                <a:solidFill>
                  <a:srgbClr val="7293AC"/>
                </a:solidFill>
                <a:latin typeface="Arial MT"/>
                <a:cs typeface="Arial MT"/>
              </a:rPr>
              <a:t> </a:t>
            </a:r>
            <a:r>
              <a:rPr dirty="0" sz="2200" spc="-55" i="1">
                <a:solidFill>
                  <a:srgbClr val="424242"/>
                </a:solidFill>
                <a:latin typeface="Calibri"/>
                <a:cs typeface="Calibri"/>
              </a:rPr>
              <a:t>internet-</a:t>
            </a:r>
            <a:r>
              <a:rPr dirty="0" sz="2200" spc="-10" i="1">
                <a:solidFill>
                  <a:srgbClr val="424242"/>
                </a:solidFill>
                <a:latin typeface="Calibri"/>
                <a:cs typeface="Calibri"/>
              </a:rPr>
              <a:t>facing.</a:t>
            </a:r>
            <a:endParaRPr sz="2200">
              <a:latin typeface="Calibri"/>
              <a:cs typeface="Calibri"/>
            </a:endParaRPr>
          </a:p>
          <a:p>
            <a:pPr marL="334645" indent="-285115">
              <a:lnSpc>
                <a:spcPct val="100000"/>
              </a:lnSpc>
              <a:spcBef>
                <a:spcPts val="1565"/>
              </a:spcBef>
              <a:buClr>
                <a:srgbClr val="46546B"/>
              </a:buClr>
              <a:buChar char="•"/>
              <a:tabLst>
                <a:tab pos="334645" algn="l"/>
              </a:tabLst>
            </a:pPr>
            <a:r>
              <a:rPr dirty="0" sz="2200" spc="-200">
                <a:solidFill>
                  <a:srgbClr val="444444"/>
                </a:solidFill>
                <a:latin typeface="Arial MT"/>
                <a:cs typeface="Arial MT"/>
              </a:rPr>
              <a:t>Locate</a:t>
            </a:r>
            <a:r>
              <a:rPr dirty="0" sz="2200" spc="-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84848"/>
                </a:solidFill>
                <a:latin typeface="Arial MT"/>
                <a:cs typeface="Arial MT"/>
              </a:rPr>
              <a:t>the</a:t>
            </a:r>
            <a:r>
              <a:rPr dirty="0" sz="2200" spc="-18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4B4B4B"/>
                </a:solidFill>
                <a:latin typeface="Arial MT"/>
                <a:cs typeface="Arial MT"/>
              </a:rPr>
              <a:t>public-</a:t>
            </a:r>
            <a:r>
              <a:rPr dirty="0" sz="2200" spc="-130">
                <a:solidFill>
                  <a:srgbClr val="4B4B4B"/>
                </a:solidFill>
                <a:latin typeface="Arial MT"/>
                <a:cs typeface="Arial MT"/>
              </a:rPr>
              <a:t>facing</a:t>
            </a:r>
            <a:r>
              <a:rPr dirty="0" sz="2200" spc="-17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45">
                <a:solidFill>
                  <a:srgbClr val="4B4B4B"/>
                </a:solidFill>
                <a:latin typeface="Arial MT"/>
                <a:cs typeface="Arial MT"/>
              </a:rPr>
              <a:t>DNS</a:t>
            </a:r>
            <a:r>
              <a:rPr dirty="0" sz="2200" spc="-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15">
                <a:solidFill>
                  <a:srgbClr val="444444"/>
                </a:solidFill>
                <a:latin typeface="Arial MT"/>
                <a:cs typeface="Arial MT"/>
              </a:rPr>
              <a:t>Name</a:t>
            </a:r>
            <a:r>
              <a:rPr dirty="0" sz="2200" spc="-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484848"/>
                </a:solidFill>
                <a:latin typeface="Arial MT"/>
                <a:cs typeface="Arial MT"/>
              </a:rPr>
              <a:t>utilized</a:t>
            </a:r>
            <a:r>
              <a:rPr dirty="0" sz="2200" spc="1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F4F4F"/>
                </a:solidFill>
                <a:latin typeface="Arial MT"/>
                <a:cs typeface="Arial MT"/>
              </a:rPr>
              <a:t>to</a:t>
            </a:r>
            <a:r>
              <a:rPr dirty="0" sz="2200" spc="-22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494949"/>
                </a:solidFill>
                <a:latin typeface="Arial MT"/>
                <a:cs typeface="Arial MT"/>
              </a:rPr>
              <a:t>query</a:t>
            </a:r>
            <a:r>
              <a:rPr dirty="0" sz="2200" spc="-1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targets.</a:t>
            </a:r>
            <a:endParaRPr sz="2200">
              <a:latin typeface="Arial MT"/>
              <a:cs typeface="Arial MT"/>
            </a:endParaRPr>
          </a:p>
          <a:p>
            <a:pPr marL="332105" indent="-282575">
              <a:lnSpc>
                <a:spcPct val="100000"/>
              </a:lnSpc>
              <a:spcBef>
                <a:spcPts val="1440"/>
              </a:spcBef>
              <a:buClr>
                <a:srgbClr val="49546D"/>
              </a:buClr>
              <a:buChar char="•"/>
              <a:tabLst>
                <a:tab pos="332105" algn="l"/>
              </a:tabLst>
            </a:pPr>
            <a:r>
              <a:rPr dirty="0" sz="2200" spc="-130">
                <a:solidFill>
                  <a:srgbClr val="464646"/>
                </a:solidFill>
                <a:latin typeface="Arial MT"/>
                <a:cs typeface="Arial MT"/>
              </a:rPr>
              <a:t>Health</a:t>
            </a:r>
            <a:r>
              <a:rPr dirty="0" sz="2200" spc="-12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225">
                <a:solidFill>
                  <a:srgbClr val="464646"/>
                </a:solidFill>
                <a:latin typeface="Arial MT"/>
                <a:cs typeface="Arial MT"/>
              </a:rPr>
              <a:t>checks</a:t>
            </a:r>
            <a:r>
              <a:rPr dirty="0" sz="2200" spc="-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85">
                <a:solidFill>
                  <a:srgbClr val="414141"/>
                </a:solidFill>
                <a:latin typeface="Arial MT"/>
                <a:cs typeface="Arial MT"/>
              </a:rPr>
              <a:t>begin</a:t>
            </a:r>
            <a:r>
              <a:rPr dirty="0" sz="2200" spc="-114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494949"/>
                </a:solidFill>
                <a:latin typeface="Arial MT"/>
                <a:cs typeface="Arial MT"/>
              </a:rPr>
              <a:t>monitoring</a:t>
            </a:r>
            <a:r>
              <a:rPr dirty="0" sz="2200" spc="-1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525252"/>
                </a:solidFill>
                <a:latin typeface="Arial MT"/>
                <a:cs typeface="Arial MT"/>
              </a:rPr>
              <a:t>active</a:t>
            </a:r>
            <a:r>
              <a:rPr dirty="0" sz="2200" spc="-4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484848"/>
                </a:solidFill>
                <a:latin typeface="Arial MT"/>
                <a:cs typeface="Arial MT"/>
              </a:rPr>
              <a:t>listener</a:t>
            </a:r>
            <a:r>
              <a:rPr dirty="0" sz="2200" spc="-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4B4B4B"/>
                </a:solidFill>
                <a:latin typeface="Arial MT"/>
                <a:cs typeface="Arial MT"/>
              </a:rPr>
              <a:t>ports</a:t>
            </a:r>
            <a:r>
              <a:rPr dirty="0" sz="2200" spc="2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424242"/>
                </a:solidFill>
                <a:latin typeface="Arial MT"/>
                <a:cs typeface="Arial MT"/>
              </a:rPr>
              <a:t>automatically.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Summary</a:t>
            </a:r>
            <a:r>
              <a:rPr dirty="0" spc="-220"/>
              <a:t> </a:t>
            </a:r>
            <a:r>
              <a:rPr dirty="0"/>
              <a:t>&amp;</a:t>
            </a:r>
            <a:r>
              <a:rPr dirty="0" spc="-740"/>
              <a:t> </a:t>
            </a:r>
            <a:r>
              <a:rPr dirty="0" spc="-265">
                <a:solidFill>
                  <a:srgbClr val="0F0F0F"/>
                </a:solidFill>
              </a:rPr>
              <a:t>Best</a:t>
            </a:r>
            <a:r>
              <a:rPr dirty="0" spc="-295">
                <a:solidFill>
                  <a:srgbClr val="0F0F0F"/>
                </a:solidFill>
              </a:rPr>
              <a:t> </a:t>
            </a:r>
            <a:r>
              <a:rPr dirty="0" spc="-85">
                <a:solidFill>
                  <a:srgbClr val="131313"/>
                </a:solidFill>
              </a:rPr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2631" y="4181283"/>
            <a:ext cx="6831330" cy="1417320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700">
                <a:solidFill>
                  <a:srgbClr val="131313"/>
                </a:solidFill>
                <a:latin typeface="Arial MT"/>
                <a:cs typeface="Arial MT"/>
              </a:rPr>
              <a:t>Configure</a:t>
            </a:r>
            <a:r>
              <a:rPr dirty="0" sz="2700" spc="-1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700" spc="-80">
                <a:solidFill>
                  <a:srgbClr val="0A0A0A"/>
                </a:solidFill>
                <a:latin typeface="Arial MT"/>
                <a:cs typeface="Arial MT"/>
              </a:rPr>
              <a:t>Robust</a:t>
            </a:r>
            <a:r>
              <a:rPr dirty="0" sz="2700" spc="-9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A1833"/>
                </a:solidFill>
                <a:latin typeface="Arial MT"/>
                <a:cs typeface="Arial MT"/>
              </a:rPr>
              <a:t>Health</a:t>
            </a:r>
            <a:r>
              <a:rPr dirty="0" sz="2700" spc="-345">
                <a:solidFill>
                  <a:srgbClr val="0A1833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111111"/>
                </a:solidFill>
                <a:latin typeface="Arial MT"/>
                <a:cs typeface="Arial MT"/>
              </a:rPr>
              <a:t>Checks</a:t>
            </a:r>
            <a:endParaRPr sz="2700">
              <a:latin typeface="Arial MT"/>
              <a:cs typeface="Arial MT"/>
            </a:endParaRPr>
          </a:p>
          <a:p>
            <a:pPr marL="20955" marR="5080" indent="-3175">
              <a:lnSpc>
                <a:spcPct val="119300"/>
              </a:lnSpc>
              <a:spcBef>
                <a:spcPts val="710"/>
              </a:spcBef>
            </a:pPr>
            <a:r>
              <a:rPr dirty="0" sz="1900" spc="-185">
                <a:solidFill>
                  <a:srgbClr val="3A3A3A"/>
                </a:solidFill>
                <a:latin typeface="Arial MT"/>
                <a:cs typeface="Arial MT"/>
              </a:rPr>
              <a:t>Set</a:t>
            </a:r>
            <a:r>
              <a:rPr dirty="0" sz="1900" spc="-9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900" spc="-120">
                <a:solidFill>
                  <a:srgbClr val="484848"/>
                </a:solidFill>
                <a:latin typeface="Arial MT"/>
                <a:cs typeface="Arial MT"/>
              </a:rPr>
              <a:t>reasonable</a:t>
            </a:r>
            <a:r>
              <a:rPr dirty="0" sz="1900" spc="-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494949"/>
                </a:solidFill>
                <a:latin typeface="Arial MT"/>
                <a:cs typeface="Arial MT"/>
              </a:rPr>
              <a:t>ping</a:t>
            </a:r>
            <a:r>
              <a:rPr dirty="0" sz="1900" spc="-2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00" spc="-135">
                <a:solidFill>
                  <a:srgbClr val="4D4D4D"/>
                </a:solidFill>
                <a:latin typeface="Arial MT"/>
                <a:cs typeface="Arial MT"/>
              </a:rPr>
              <a:t>response</a:t>
            </a:r>
            <a:r>
              <a:rPr dirty="0" sz="1900" spc="-8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383838"/>
                </a:solidFill>
                <a:latin typeface="Arial MT"/>
                <a:cs typeface="Arial MT"/>
              </a:rPr>
              <a:t>thresholds</a:t>
            </a:r>
            <a:r>
              <a:rPr dirty="0" sz="190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494949"/>
                </a:solidFill>
                <a:latin typeface="Arial MT"/>
                <a:cs typeface="Arial MT"/>
              </a:rPr>
              <a:t>to</a:t>
            </a:r>
            <a:r>
              <a:rPr dirty="0" sz="1900" spc="-1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494949"/>
                </a:solidFill>
                <a:latin typeface="Arial MT"/>
                <a:cs typeface="Arial MT"/>
              </a:rPr>
              <a:t>isolate</a:t>
            </a:r>
            <a:r>
              <a:rPr dirty="0" sz="1900" spc="-1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00" spc="-75">
                <a:solidFill>
                  <a:srgbClr val="484848"/>
                </a:solidFill>
                <a:latin typeface="Arial MT"/>
                <a:cs typeface="Arial MT"/>
              </a:rPr>
              <a:t>unhealthy</a:t>
            </a:r>
            <a:r>
              <a:rPr dirty="0" sz="1900" spc="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100">
                <a:solidFill>
                  <a:srgbClr val="3A3A3A"/>
                </a:solidFill>
                <a:latin typeface="Arial MT"/>
                <a:cs typeface="Arial MT"/>
              </a:rPr>
              <a:t>instances </a:t>
            </a:r>
            <a:r>
              <a:rPr dirty="0" sz="1900" spc="-105">
                <a:solidFill>
                  <a:srgbClr val="464646"/>
                </a:solidFill>
                <a:latin typeface="Arial MT"/>
                <a:cs typeface="Arial MT"/>
              </a:rPr>
              <a:t>dynamically,</a:t>
            </a:r>
            <a:r>
              <a:rPr dirty="0" sz="1900" spc="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A5A5A5"/>
                </a:solidFill>
                <a:latin typeface="Arial MT"/>
                <a:cs typeface="Arial MT"/>
              </a:rPr>
              <a:t>avoiding</a:t>
            </a:r>
            <a:r>
              <a:rPr dirty="0" sz="1900" spc="-12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900" spc="-160">
                <a:solidFill>
                  <a:srgbClr val="4B4B4B"/>
                </a:solidFill>
                <a:latin typeface="Arial MT"/>
                <a:cs typeface="Arial MT"/>
              </a:rPr>
              <a:t>bad</a:t>
            </a:r>
            <a:r>
              <a:rPr dirty="0" sz="1900" spc="-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900" spc="-105">
                <a:solidFill>
                  <a:srgbClr val="4D5264"/>
                </a:solidFill>
                <a:latin typeface="Arial MT"/>
                <a:cs typeface="Arial MT"/>
              </a:rPr>
              <a:t>request</a:t>
            </a:r>
            <a:r>
              <a:rPr dirty="0" sz="1900" spc="35">
                <a:solidFill>
                  <a:srgbClr val="4D5264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464646"/>
                </a:solidFill>
                <a:latin typeface="Arial MT"/>
                <a:cs typeface="Arial MT"/>
              </a:rPr>
              <a:t>routing.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4311" y="6427287"/>
            <a:ext cx="6135370" cy="143319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700" spc="-450">
                <a:solidFill>
                  <a:srgbClr val="0A0A0A"/>
                </a:solidFill>
                <a:latin typeface="Arial MT"/>
                <a:cs typeface="Arial MT"/>
              </a:rPr>
              <a:t>SSL</a:t>
            </a:r>
            <a:r>
              <a:rPr dirty="0" sz="2700" spc="-11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F0F0F"/>
                </a:solidFill>
                <a:latin typeface="Arial MT"/>
                <a:cs typeface="Arial MT"/>
              </a:rPr>
              <a:t>Offloading</a:t>
            </a:r>
            <a:r>
              <a:rPr dirty="0" sz="270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700" spc="70">
                <a:solidFill>
                  <a:srgbClr val="0C1634"/>
                </a:solidFill>
                <a:latin typeface="Arial MT"/>
                <a:cs typeface="Arial MT"/>
              </a:rPr>
              <a:t>&amp;</a:t>
            </a:r>
            <a:r>
              <a:rPr dirty="0" sz="2700" spc="-204">
                <a:solidFill>
                  <a:srgbClr val="0C163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50505"/>
                </a:solidFill>
                <a:latin typeface="Arial MT"/>
                <a:cs typeface="Arial MT"/>
              </a:rPr>
              <a:t>Listeners</a:t>
            </a:r>
            <a:endParaRPr sz="2700">
              <a:latin typeface="Arial MT"/>
              <a:cs typeface="Arial MT"/>
            </a:endParaRPr>
          </a:p>
          <a:p>
            <a:pPr marL="18415" marR="5080" indent="-1905">
              <a:lnSpc>
                <a:spcPct val="124800"/>
              </a:lnSpc>
              <a:spcBef>
                <a:spcPts val="585"/>
              </a:spcBef>
            </a:pPr>
            <a:r>
              <a:rPr dirty="0" sz="1900" spc="-45">
                <a:solidFill>
                  <a:srgbClr val="4B4B4B"/>
                </a:solidFill>
                <a:latin typeface="Arial MT"/>
                <a:cs typeface="Arial MT"/>
              </a:rPr>
              <a:t>Perform</a:t>
            </a:r>
            <a:r>
              <a:rPr dirty="0" sz="1900" spc="-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4F4F4F"/>
                </a:solidFill>
                <a:latin typeface="Arial MT"/>
                <a:cs typeface="Arial MT"/>
              </a:rPr>
              <a:t>encryption</a:t>
            </a:r>
            <a:r>
              <a:rPr dirty="0" sz="1900" spc="-6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484848"/>
                </a:solidFill>
                <a:latin typeface="Arial MT"/>
                <a:cs typeface="Arial MT"/>
              </a:rPr>
              <a:t>decryption</a:t>
            </a:r>
            <a:r>
              <a:rPr dirty="0" sz="1900" spc="2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solidFill>
                  <a:srgbClr val="494949"/>
                </a:solidFill>
                <a:latin typeface="Arial MT"/>
                <a:cs typeface="Arial MT"/>
              </a:rPr>
              <a:t>logic</a:t>
            </a:r>
            <a:r>
              <a:rPr dirty="0" sz="1900" spc="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00" spc="-75">
                <a:solidFill>
                  <a:srgbClr val="3D3D3D"/>
                </a:solidFill>
                <a:latin typeface="Arial MT"/>
                <a:cs typeface="Arial MT"/>
              </a:rPr>
              <a:t>at</a:t>
            </a:r>
            <a:r>
              <a:rPr dirty="0" sz="1900" spc="-16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9EAEBC"/>
                </a:solidFill>
                <a:latin typeface="Arial MT"/>
                <a:cs typeface="Arial MT"/>
              </a:rPr>
              <a:t>the</a:t>
            </a:r>
            <a:r>
              <a:rPr dirty="0" sz="1900" spc="-210">
                <a:solidFill>
                  <a:srgbClr val="9EAEBC"/>
                </a:solidFill>
                <a:latin typeface="Arial MT"/>
                <a:cs typeface="Arial MT"/>
              </a:rPr>
              <a:t> </a:t>
            </a:r>
            <a:r>
              <a:rPr dirty="0" sz="1900" spc="-185">
                <a:solidFill>
                  <a:srgbClr val="424242"/>
                </a:solidFill>
                <a:latin typeface="Arial MT"/>
                <a:cs typeface="Arial MT"/>
              </a:rPr>
              <a:t>CLB</a:t>
            </a:r>
            <a:r>
              <a:rPr dirty="0" sz="1900" spc="-10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900" spc="-110">
                <a:solidFill>
                  <a:srgbClr val="4D4D4D"/>
                </a:solidFill>
                <a:latin typeface="Arial MT"/>
                <a:cs typeface="Arial MT"/>
              </a:rPr>
              <a:t>level</a:t>
            </a:r>
            <a:r>
              <a:rPr dirty="0" sz="1900" spc="-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3D3D3D"/>
                </a:solidFill>
                <a:latin typeface="Arial MT"/>
                <a:cs typeface="Arial MT"/>
              </a:rPr>
              <a:t>to</a:t>
            </a:r>
            <a:r>
              <a:rPr dirty="0" sz="1900" spc="-14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3F3F3F"/>
                </a:solidFill>
                <a:latin typeface="Arial MT"/>
                <a:cs typeface="Arial MT"/>
              </a:rPr>
              <a:t>reduce </a:t>
            </a:r>
            <a:r>
              <a:rPr dirty="0" sz="1900" spc="-65">
                <a:solidFill>
                  <a:srgbClr val="545454"/>
                </a:solidFill>
                <a:latin typeface="Arial MT"/>
                <a:cs typeface="Arial MT"/>
              </a:rPr>
              <a:t>computational</a:t>
            </a:r>
            <a:r>
              <a:rPr dirty="0" sz="1900" spc="9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525252"/>
                </a:solidFill>
                <a:latin typeface="Arial MT"/>
                <a:cs typeface="Arial MT"/>
              </a:rPr>
              <a:t>strain</a:t>
            </a:r>
            <a:r>
              <a:rPr dirty="0" sz="1900" spc="-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900" spc="-100">
                <a:solidFill>
                  <a:srgbClr val="505050"/>
                </a:solidFill>
                <a:latin typeface="Arial MT"/>
                <a:cs typeface="Arial MT"/>
              </a:rPr>
              <a:t>on</a:t>
            </a:r>
            <a:r>
              <a:rPr dirty="0" sz="1900" spc="-114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900" spc="-145">
                <a:solidFill>
                  <a:srgbClr val="2D4662"/>
                </a:solidFill>
                <a:latin typeface="Arial MT"/>
                <a:cs typeface="Arial MT"/>
              </a:rPr>
              <a:t>backend</a:t>
            </a:r>
            <a:r>
              <a:rPr dirty="0" sz="1900" spc="-5">
                <a:solidFill>
                  <a:srgbClr val="2D4662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464646"/>
                </a:solidFill>
                <a:latin typeface="Arial MT"/>
                <a:cs typeface="Arial MT"/>
              </a:rPr>
              <a:t>servers.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90575" y="4181283"/>
            <a:ext cx="7325359" cy="1417320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700" spc="-40">
                <a:solidFill>
                  <a:srgbClr val="0E0E0E"/>
                </a:solidFill>
                <a:latin typeface="Arial MT"/>
                <a:cs typeface="Arial MT"/>
              </a:rPr>
              <a:t>Leverage</a:t>
            </a:r>
            <a:r>
              <a:rPr dirty="0" sz="2700" spc="-1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700" spc="-65">
                <a:solidFill>
                  <a:srgbClr val="111111"/>
                </a:solidFill>
                <a:latin typeface="Arial MT"/>
                <a:cs typeface="Arial MT"/>
              </a:rPr>
              <a:t>Cross-</a:t>
            </a:r>
            <a:r>
              <a:rPr dirty="0" sz="2700" spc="-20">
                <a:solidFill>
                  <a:srgbClr val="111111"/>
                </a:solidFill>
                <a:latin typeface="Arial MT"/>
                <a:cs typeface="Arial MT"/>
              </a:rPr>
              <a:t>Zone</a:t>
            </a:r>
            <a:r>
              <a:rPr dirty="0" sz="2700" spc="-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131313"/>
                </a:solidFill>
                <a:latin typeface="Arial MT"/>
                <a:cs typeface="Arial MT"/>
              </a:rPr>
              <a:t>Balancing</a:t>
            </a:r>
            <a:endParaRPr sz="2700">
              <a:latin typeface="Arial MT"/>
              <a:cs typeface="Arial MT"/>
            </a:endParaRPr>
          </a:p>
          <a:p>
            <a:pPr marL="20955" marR="5080" indent="-3175">
              <a:lnSpc>
                <a:spcPct val="119300"/>
              </a:lnSpc>
              <a:spcBef>
                <a:spcPts val="710"/>
              </a:spcBef>
            </a:pPr>
            <a:r>
              <a:rPr dirty="0" sz="1900" spc="-140">
                <a:solidFill>
                  <a:srgbClr val="444444"/>
                </a:solidFill>
                <a:latin typeface="Arial MT"/>
                <a:cs typeface="Arial MT"/>
              </a:rPr>
              <a:t>Ensure</a:t>
            </a:r>
            <a:r>
              <a:rPr dirty="0" sz="1900" spc="-1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383838"/>
                </a:solidFill>
                <a:latin typeface="Arial MT"/>
                <a:cs typeface="Arial MT"/>
              </a:rPr>
              <a:t>traffic</a:t>
            </a:r>
            <a:r>
              <a:rPr dirty="0" sz="190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900" spc="-90">
                <a:solidFill>
                  <a:srgbClr val="4F4F4F"/>
                </a:solidFill>
                <a:latin typeface="Arial MT"/>
                <a:cs typeface="Arial MT"/>
              </a:rPr>
              <a:t>is</a:t>
            </a:r>
            <a:r>
              <a:rPr dirty="0" sz="1900" spc="-11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900" spc="-140">
                <a:solidFill>
                  <a:srgbClr val="484848"/>
                </a:solidFill>
                <a:latin typeface="Arial MT"/>
                <a:cs typeface="Arial MT"/>
              </a:rPr>
              <a:t>shared</a:t>
            </a:r>
            <a:r>
              <a:rPr dirty="0" sz="1900" spc="-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90">
                <a:solidFill>
                  <a:srgbClr val="484848"/>
                </a:solidFill>
                <a:latin typeface="Arial MT"/>
                <a:cs typeface="Arial MT"/>
              </a:rPr>
              <a:t>equally</a:t>
            </a:r>
            <a:r>
              <a:rPr dirty="0" sz="1900" spc="-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140">
                <a:solidFill>
                  <a:srgbClr val="444444"/>
                </a:solidFill>
                <a:latin typeface="Arial MT"/>
                <a:cs typeface="Arial MT"/>
              </a:rPr>
              <a:t>across</a:t>
            </a:r>
            <a:r>
              <a:rPr dirty="0" sz="1900" spc="-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383838"/>
                </a:solidFill>
                <a:latin typeface="Arial MT"/>
                <a:cs typeface="Arial MT"/>
              </a:rPr>
              <a:t>distinct</a:t>
            </a:r>
            <a:r>
              <a:rPr dirty="0" sz="190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900" spc="-40">
                <a:solidFill>
                  <a:srgbClr val="424242"/>
                </a:solidFill>
                <a:latin typeface="Arial MT"/>
                <a:cs typeface="Arial MT"/>
              </a:rPr>
              <a:t>Availability</a:t>
            </a:r>
            <a:r>
              <a:rPr dirty="0" sz="1900" spc="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900" spc="-155">
                <a:solidFill>
                  <a:srgbClr val="3D3D3D"/>
                </a:solidFill>
                <a:latin typeface="Arial MT"/>
                <a:cs typeface="Arial MT"/>
              </a:rPr>
              <a:t>Zones</a:t>
            </a:r>
            <a:r>
              <a:rPr dirty="0" sz="1900" spc="-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900" spc="-175">
                <a:solidFill>
                  <a:srgbClr val="4B4B4B"/>
                </a:solidFill>
                <a:latin typeface="Arial MT"/>
                <a:cs typeface="Arial MT"/>
              </a:rPr>
              <a:t>even</a:t>
            </a:r>
            <a:r>
              <a:rPr dirty="0" sz="1900" spc="-4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4B4B4B"/>
                </a:solidFill>
                <a:latin typeface="Arial MT"/>
                <a:cs typeface="Arial MT"/>
              </a:rPr>
              <a:t>if</a:t>
            </a:r>
            <a:r>
              <a:rPr dirty="0" sz="1900" spc="-10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414141"/>
                </a:solidFill>
                <a:latin typeface="Arial MT"/>
                <a:cs typeface="Arial MT"/>
              </a:rPr>
              <a:t>the </a:t>
            </a:r>
            <a:r>
              <a:rPr dirty="0" sz="1900" spc="-11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r>
              <a:rPr dirty="0" sz="1900" spc="-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464646"/>
                </a:solidFill>
                <a:latin typeface="Arial MT"/>
                <a:cs typeface="Arial MT"/>
              </a:rPr>
              <a:t>distribution</a:t>
            </a:r>
            <a:r>
              <a:rPr dirty="0" sz="1900" spc="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900" spc="-95">
                <a:solidFill>
                  <a:srgbClr val="484848"/>
                </a:solidFill>
                <a:latin typeface="Arial MT"/>
                <a:cs typeface="Arial MT"/>
              </a:rPr>
              <a:t>is</a:t>
            </a:r>
            <a:r>
              <a:rPr dirty="0" sz="1900" spc="-12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464646"/>
                </a:solidFill>
                <a:latin typeface="Arial MT"/>
                <a:cs typeface="Arial MT"/>
              </a:rPr>
              <a:t>asymmetric.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32949" y="6789449"/>
            <a:ext cx="20383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14">
                <a:solidFill>
                  <a:srgbClr val="2662E8"/>
                </a:solidFill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89028" y="6406301"/>
            <a:ext cx="7103109" cy="1454150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800" spc="-40">
                <a:solidFill>
                  <a:srgbClr val="181818"/>
                </a:solidFill>
                <a:latin typeface="Arial MT"/>
                <a:cs typeface="Arial MT"/>
              </a:rPr>
              <a:t>Migration</a:t>
            </a:r>
            <a:r>
              <a:rPr dirty="0" sz="2800" spc="-254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0F0F0F"/>
                </a:solidFill>
                <a:latin typeface="Arial MT"/>
                <a:cs typeface="Arial MT"/>
              </a:rPr>
              <a:t>Recommendation</a:t>
            </a:r>
            <a:endParaRPr sz="2800">
              <a:latin typeface="Arial MT"/>
              <a:cs typeface="Arial MT"/>
            </a:endParaRPr>
          </a:p>
          <a:p>
            <a:pPr marL="19050" marR="5080" indent="-635">
              <a:lnSpc>
                <a:spcPct val="124800"/>
              </a:lnSpc>
              <a:spcBef>
                <a:spcPts val="565"/>
              </a:spcBef>
            </a:pPr>
            <a:r>
              <a:rPr dirty="0" sz="1900" spc="-85">
                <a:solidFill>
                  <a:srgbClr val="4F4F4F"/>
                </a:solidFill>
                <a:latin typeface="Arial MT"/>
                <a:cs typeface="Arial MT"/>
              </a:rPr>
              <a:t>For</a:t>
            </a:r>
            <a:r>
              <a:rPr dirty="0" sz="1900" spc="-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900" spc="-140">
                <a:solidFill>
                  <a:srgbClr val="494949"/>
                </a:solidFill>
                <a:latin typeface="Arial MT"/>
                <a:cs typeface="Arial MT"/>
              </a:rPr>
              <a:t>Layer</a:t>
            </a:r>
            <a:r>
              <a:rPr dirty="0" sz="1900" spc="9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4D4D4D"/>
                </a:solidFill>
                <a:latin typeface="Arial MT"/>
                <a:cs typeface="Arial MT"/>
              </a:rPr>
              <a:t>7</a:t>
            </a:r>
            <a:r>
              <a:rPr dirty="0" sz="1900" spc="-2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414141"/>
                </a:solidFill>
                <a:latin typeface="Arial MT"/>
                <a:cs typeface="Arial MT"/>
              </a:rPr>
              <a:t>host</a:t>
            </a:r>
            <a:r>
              <a:rPr dirty="0" sz="1900" spc="-9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4F4F4F"/>
                </a:solidFill>
                <a:latin typeface="Arial MT"/>
                <a:cs typeface="Arial MT"/>
              </a:rPr>
              <a:t>or</a:t>
            </a:r>
            <a:r>
              <a:rPr dirty="0" sz="19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900" spc="-125">
                <a:solidFill>
                  <a:srgbClr val="424242"/>
                </a:solidFill>
                <a:latin typeface="Arial MT"/>
                <a:cs typeface="Arial MT"/>
              </a:rPr>
              <a:t>path-</a:t>
            </a:r>
            <a:r>
              <a:rPr dirty="0" sz="1900" spc="-130">
                <a:solidFill>
                  <a:srgbClr val="424242"/>
                </a:solidFill>
                <a:latin typeface="Arial MT"/>
                <a:cs typeface="Arial MT"/>
              </a:rPr>
              <a:t>based</a:t>
            </a:r>
            <a:r>
              <a:rPr dirty="0" sz="1900" spc="5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900" spc="-105">
                <a:solidFill>
                  <a:srgbClr val="414141"/>
                </a:solidFill>
                <a:latin typeface="Arial MT"/>
                <a:cs typeface="Arial MT"/>
              </a:rPr>
              <a:t>features,</a:t>
            </a:r>
            <a:r>
              <a:rPr dirty="0" sz="1900" spc="-6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494949"/>
                </a:solidFill>
                <a:latin typeface="Arial MT"/>
                <a:cs typeface="Arial MT"/>
              </a:rPr>
              <a:t>migrate</a:t>
            </a:r>
            <a:r>
              <a:rPr dirty="0" sz="1900" spc="-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00" spc="-60">
                <a:solidFill>
                  <a:srgbClr val="484848"/>
                </a:solidFill>
                <a:latin typeface="Arial MT"/>
                <a:cs typeface="Arial MT"/>
              </a:rPr>
              <a:t>configurations</a:t>
            </a:r>
            <a:r>
              <a:rPr dirty="0" sz="1900" spc="-19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414141"/>
                </a:solidFill>
                <a:latin typeface="Arial MT"/>
                <a:cs typeface="Arial MT"/>
              </a:rPr>
              <a:t>smoothly </a:t>
            </a:r>
            <a:r>
              <a:rPr dirty="0" sz="1900">
                <a:solidFill>
                  <a:srgbClr val="525252"/>
                </a:solidFill>
                <a:latin typeface="Arial MT"/>
                <a:cs typeface="Arial MT"/>
              </a:rPr>
              <a:t>to</a:t>
            </a:r>
            <a:r>
              <a:rPr dirty="0" sz="1900" spc="-1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4B4B4B"/>
                </a:solidFill>
                <a:latin typeface="Arial MT"/>
                <a:cs typeface="Arial MT"/>
              </a:rPr>
              <a:t>Application</a:t>
            </a:r>
            <a:r>
              <a:rPr dirty="0" sz="1900" spc="-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900" spc="-180">
                <a:solidFill>
                  <a:srgbClr val="3B4B64"/>
                </a:solidFill>
                <a:latin typeface="Arial MT"/>
                <a:cs typeface="Arial MT"/>
              </a:rPr>
              <a:t>Load</a:t>
            </a:r>
            <a:r>
              <a:rPr dirty="0" sz="1900" spc="-50">
                <a:solidFill>
                  <a:srgbClr val="3B4B64"/>
                </a:solidFill>
                <a:latin typeface="Arial MT"/>
                <a:cs typeface="Arial MT"/>
              </a:rPr>
              <a:t> </a:t>
            </a:r>
            <a:r>
              <a:rPr dirty="0" sz="1900" spc="-125">
                <a:solidFill>
                  <a:srgbClr val="464646"/>
                </a:solidFill>
                <a:latin typeface="Arial MT"/>
                <a:cs typeface="Arial MT"/>
              </a:rPr>
              <a:t>Balancers</a:t>
            </a:r>
            <a:r>
              <a:rPr dirty="0" sz="1900" spc="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464646"/>
                </a:solidFill>
                <a:latin typeface="Arial MT"/>
                <a:cs typeface="Arial MT"/>
              </a:rPr>
              <a:t>(ALBs).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0188" y="5366618"/>
            <a:ext cx="9740900" cy="15487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ctr" marL="12700" marR="5080">
              <a:lnSpc>
                <a:spcPct val="129700"/>
              </a:lnSpc>
              <a:spcBef>
                <a:spcPts val="25"/>
              </a:spcBef>
            </a:pPr>
            <a:r>
              <a:rPr dirty="0" sz="2700" spc="-195">
                <a:solidFill>
                  <a:srgbClr val="A5A5A5"/>
                </a:solidFill>
                <a:latin typeface="Arial MT"/>
                <a:cs typeface="Arial MT"/>
              </a:rPr>
              <a:t>Thank</a:t>
            </a:r>
            <a:r>
              <a:rPr dirty="0" sz="2700" spc="-10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700" spc="-185">
                <a:solidFill>
                  <a:srgbClr val="030A18"/>
                </a:solidFill>
                <a:latin typeface="Arial MT"/>
                <a:cs typeface="Arial MT"/>
              </a:rPr>
              <a:t>you</a:t>
            </a:r>
            <a:r>
              <a:rPr dirty="0" sz="2700" spc="-120">
                <a:solidFill>
                  <a:srgbClr val="030A1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97A3AC"/>
                </a:solidFill>
                <a:latin typeface="Arial MT"/>
                <a:cs typeface="Arial MT"/>
              </a:rPr>
              <a:t>for</a:t>
            </a:r>
            <a:r>
              <a:rPr dirty="0" sz="2700" spc="-160">
                <a:solidFill>
                  <a:srgbClr val="97A3AC"/>
                </a:solidFill>
                <a:latin typeface="Arial MT"/>
                <a:cs typeface="Arial MT"/>
              </a:rPr>
              <a:t> </a:t>
            </a:r>
            <a:r>
              <a:rPr dirty="0" sz="2700" spc="-90">
                <a:solidFill>
                  <a:srgbClr val="A3A3A3"/>
                </a:solidFill>
                <a:latin typeface="Arial MT"/>
                <a:cs typeface="Arial MT"/>
              </a:rPr>
              <a:t>following</a:t>
            </a:r>
            <a:r>
              <a:rPr dirty="0" sz="2700" spc="-16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700" spc="-180">
                <a:solidFill>
                  <a:srgbClr val="A8A8A8"/>
                </a:solidFill>
                <a:latin typeface="Arial MT"/>
                <a:cs typeface="Arial MT"/>
              </a:rPr>
              <a:t>along</a:t>
            </a:r>
            <a:r>
              <a:rPr dirty="0" sz="2700" spc="-17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700" spc="-60">
                <a:solidFill>
                  <a:srgbClr val="A3A3A3"/>
                </a:solidFill>
                <a:latin typeface="Arial MT"/>
                <a:cs typeface="Arial MT"/>
              </a:rPr>
              <a:t>with</a:t>
            </a:r>
            <a:r>
              <a:rPr dirty="0" sz="2700" spc="-21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700" spc="-100">
                <a:solidFill>
                  <a:srgbClr val="B1B1B1"/>
                </a:solidFill>
                <a:latin typeface="Arial MT"/>
                <a:cs typeface="Arial MT"/>
              </a:rPr>
              <a:t>this</a:t>
            </a:r>
            <a:r>
              <a:rPr dirty="0" sz="2700" spc="-3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700" spc="-155">
                <a:solidFill>
                  <a:srgbClr val="AFAFAF"/>
                </a:solidFill>
                <a:latin typeface="Arial MT"/>
                <a:cs typeface="Arial MT"/>
              </a:rPr>
              <a:t>step-by-</a:t>
            </a:r>
            <a:r>
              <a:rPr dirty="0" sz="2700" spc="-114">
                <a:solidFill>
                  <a:srgbClr val="AFAFAF"/>
                </a:solidFill>
                <a:latin typeface="Arial MT"/>
                <a:cs typeface="Arial MT"/>
              </a:rPr>
              <a:t>step</a:t>
            </a:r>
            <a:r>
              <a:rPr dirty="0" sz="2700" spc="8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700" spc="-130">
                <a:solidFill>
                  <a:srgbClr val="8991A5"/>
                </a:solidFill>
                <a:latin typeface="Arial MT"/>
                <a:cs typeface="Arial MT"/>
              </a:rPr>
              <a:t>practical</a:t>
            </a:r>
            <a:r>
              <a:rPr dirty="0" sz="2700" spc="-55">
                <a:solidFill>
                  <a:srgbClr val="8991A5"/>
                </a:solidFill>
                <a:latin typeface="Arial MT"/>
                <a:cs typeface="Arial MT"/>
              </a:rPr>
              <a:t> </a:t>
            </a:r>
            <a:r>
              <a:rPr dirty="0" sz="2700" spc="-204">
                <a:solidFill>
                  <a:srgbClr val="AAAAAA"/>
                </a:solidFill>
                <a:latin typeface="Arial MT"/>
                <a:cs typeface="Arial MT"/>
              </a:rPr>
              <a:t>guide.</a:t>
            </a:r>
            <a:r>
              <a:rPr dirty="0" sz="2700" spc="-1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700" spc="-100">
                <a:solidFill>
                  <a:srgbClr val="16263D"/>
                </a:solidFill>
                <a:latin typeface="Arial MT"/>
                <a:cs typeface="Arial MT"/>
              </a:rPr>
              <a:t>This </a:t>
            </a:r>
            <a:r>
              <a:rPr dirty="0" sz="2550" spc="-114">
                <a:solidFill>
                  <a:srgbClr val="0F1D33"/>
                </a:solidFill>
                <a:latin typeface="Arial MT"/>
                <a:cs typeface="Arial MT"/>
              </a:rPr>
              <a:t>concludes</a:t>
            </a:r>
            <a:r>
              <a:rPr dirty="0" sz="2550" spc="-65">
                <a:solidFill>
                  <a:srgbClr val="0F1D33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5E6B74"/>
                </a:solidFill>
                <a:latin typeface="Arial MT"/>
                <a:cs typeface="Arial MT"/>
              </a:rPr>
              <a:t>our</a:t>
            </a:r>
            <a:r>
              <a:rPr dirty="0" sz="2550" spc="-160">
                <a:solidFill>
                  <a:srgbClr val="5E6B74"/>
                </a:solidFill>
                <a:latin typeface="Arial MT"/>
                <a:cs typeface="Arial MT"/>
              </a:rPr>
              <a:t> </a:t>
            </a:r>
            <a:r>
              <a:rPr dirty="0" sz="2550" spc="-75">
                <a:solidFill>
                  <a:srgbClr val="B1B1B1"/>
                </a:solidFill>
                <a:latin typeface="Arial MT"/>
                <a:cs typeface="Arial MT"/>
              </a:rPr>
              <a:t>technical</a:t>
            </a:r>
            <a:r>
              <a:rPr dirty="0" sz="2550" spc="-10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AAAAAA"/>
                </a:solidFill>
                <a:latin typeface="Arial MT"/>
                <a:cs typeface="Arial MT"/>
              </a:rPr>
              <a:t>demonstration</a:t>
            </a:r>
            <a:r>
              <a:rPr dirty="0" sz="2550" spc="1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59EB5"/>
                </a:solidFill>
                <a:latin typeface="Arial MT"/>
                <a:cs typeface="Arial MT"/>
              </a:rPr>
              <a:t>of</a:t>
            </a:r>
            <a:r>
              <a:rPr dirty="0" sz="2550" spc="-70">
                <a:solidFill>
                  <a:srgbClr val="959EB5"/>
                </a:solidFill>
                <a:latin typeface="Arial MT"/>
                <a:cs typeface="Arial MT"/>
              </a:rPr>
              <a:t> </a:t>
            </a:r>
            <a:r>
              <a:rPr dirty="0" sz="2550" spc="-225">
                <a:solidFill>
                  <a:srgbClr val="081526"/>
                </a:solidFill>
                <a:latin typeface="Arial MT"/>
                <a:cs typeface="Arial MT"/>
              </a:rPr>
              <a:t>AWS</a:t>
            </a:r>
            <a:r>
              <a:rPr dirty="0" sz="2550" spc="-60">
                <a:solidFill>
                  <a:srgbClr val="081526"/>
                </a:solidFill>
                <a:latin typeface="Arial MT"/>
                <a:cs typeface="Arial MT"/>
              </a:rPr>
              <a:t> </a:t>
            </a:r>
            <a:r>
              <a:rPr dirty="0" sz="2550" spc="-110">
                <a:solidFill>
                  <a:srgbClr val="90A1B8"/>
                </a:solidFill>
                <a:latin typeface="Arial MT"/>
                <a:cs typeface="Arial MT"/>
              </a:rPr>
              <a:t>Classic</a:t>
            </a:r>
            <a:r>
              <a:rPr dirty="0" sz="2550" spc="-25">
                <a:solidFill>
                  <a:srgbClr val="90A1B8"/>
                </a:solidFill>
                <a:latin typeface="Arial MT"/>
                <a:cs typeface="Arial MT"/>
              </a:rPr>
              <a:t> </a:t>
            </a:r>
            <a:r>
              <a:rPr dirty="0" sz="2550" spc="-180">
                <a:solidFill>
                  <a:srgbClr val="0C1C36"/>
                </a:solidFill>
                <a:latin typeface="Arial MT"/>
                <a:cs typeface="Arial MT"/>
              </a:rPr>
              <a:t>Load</a:t>
            </a:r>
            <a:r>
              <a:rPr dirty="0" sz="2550" spc="-10">
                <a:solidFill>
                  <a:srgbClr val="0C1C3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AAAAAA"/>
                </a:solidFill>
                <a:latin typeface="Arial MT"/>
                <a:cs typeface="Arial MT"/>
              </a:rPr>
              <a:t>Balancer </a:t>
            </a:r>
            <a:r>
              <a:rPr dirty="0" sz="2450" spc="-10">
                <a:solidFill>
                  <a:srgbClr val="A8A8A8"/>
                </a:solidFill>
                <a:latin typeface="Arial MT"/>
                <a:cs typeface="Arial MT"/>
              </a:rPr>
              <a:t>deployment.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2026-07-13T08:09:03Z</dcterms:created>
  <dcterms:modified xsi:type="dcterms:W3CDTF">2026-07-13T08:09:03Z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2026-07-13T00:00:00Z</vt:filetime>
  </property>
  <property fmtid="{D5CDD505-2E9C-101B-9397-08002B2CF9AE}" pid="4" name="LastSaved">
    <vt:filetime>2026-07-13T00:00:00Z</vt:filetime>
  </property>
</Properties>
</file>